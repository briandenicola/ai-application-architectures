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185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95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this deck validates Brian's Excalidraw diagram of a single-agent loop, adds three architectural corrections, expands to multi-agent, maps the failure surfaces, and shows how Foundry Agent Service addresses each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diagram adds: the harness container, explicit context window, 4-step tool dispatch loop, and 4-tier memory bar. The model only receives and generates text — all tool execution and loop management is done by the harness.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the orchestrator plans the goal, routes sub-tasks to specialized agents via A2A protocol, and coordinates results. Each sub-agent has its own model and tools. Shared long-term memory lets agents build on each other's outputs without re-fetching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failure zones: 1) network timeout client-to-agent, 2) context overflow (tokens), 3) model API throttle/outage, 4) tool dispatch errors (auth/5xx), 5) tool result network partition, 6) infinite loop/recursion limit, 7) memory store unavailability, 8) multi-agent A2A failure. Each requires specific mitigation.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Agent Service is organized around Build / Deploy / Operate. Build: any SDK, any model, prompt agents or hosted agents with 1,400+ MCP tools. Deploy: managed compute, auto-scale, Entra identity, Teams/M365 publishing. Operate: full OTel tracing, evaluations, agent optimizer, zone-redundant HA.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1: Four-tier managed memory replaces manual vector DB setup. Gap 2: Agent Runtime is the harness — manages context, tool dispatch, and loops. Gap 3: Responses API makes memory read/write fully automatic via Foundry IQ unified retrieval.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directly addresses all 8 failure modes: load-balanced endpoints for network resilience, memory tiering for context overflow, PTU + retry for model throttle, managed auth + OTel for tool failures, zone-redundant Cosmos DB for memory HA, recursion limits for runaway loops, and VM sandboxing for sub-agent isolation.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Dapr Agents (CNCF, v1.0) is the self-hosted alternative. Virtual actor model = scale-to-zero. Durable workflows checkpoint every step. 50+ connectors + MCP. Choose AKS+Dapr for multi-cloud or open-source. Choose Foundry Hosted for zero-infra and managed auth.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baseline agentic loop is a solid foundation. Three additions complete single-agent architecture. Multi-agent with A2A is next tier. 8 failure surfaces. Foundry manages them in Azure. Dapr Agents manages them on AKS. Choose based on your operating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rdenico@microsof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7132320" y="-914400"/>
            <a:ext cx="2926080" cy="2926080"/>
          </a:xfrm>
          <a:prstGeom prst="ellipse">
            <a:avLst/>
          </a:prstGeom>
          <a:solidFill>
            <a:srgbClr val="162055"/>
          </a:solidFill>
          <a:ln w="12700">
            <a:solidFill>
              <a:srgbClr val="162055"/>
            </a:solidFill>
            <a:prstDash val="solid"/>
          </a:ln>
        </p:spPr>
        <p:txBody>
          <a:bodyPr/>
          <a:lstStyle/>
          <a:p>
            <a:endParaRPr lang="en-US"/>
          </a:p>
        </p:txBody>
      </p:sp>
      <p:sp>
        <p:nvSpPr>
          <p:cNvPr id="3" name="Shape 1"/>
          <p:cNvSpPr/>
          <p:nvPr/>
        </p:nvSpPr>
        <p:spPr>
          <a:xfrm>
            <a:off x="7680960" y="-365760"/>
            <a:ext cx="1828800" cy="1828800"/>
          </a:xfrm>
          <a:prstGeom prst="ellipse">
            <a:avLst/>
          </a:prstGeom>
          <a:solidFill>
            <a:srgbClr val="1971C2">
              <a:alpha val="40000"/>
            </a:srgbClr>
          </a:solidFill>
          <a:ln w="12700">
            <a:solidFill>
              <a:srgbClr val="1971C2">
                <a:alpha val="40000"/>
              </a:srgbClr>
            </a:solidFill>
            <a:prstDash val="solid"/>
          </a:ln>
        </p:spPr>
        <p:txBody>
          <a:bodyPr/>
          <a:lstStyle/>
          <a:p>
            <a:endParaRPr lang="en-US"/>
          </a:p>
        </p:txBody>
      </p:sp>
      <p:sp>
        <p:nvSpPr>
          <p:cNvPr id="4" name="Text 2"/>
          <p:cNvSpPr/>
          <p:nvPr/>
        </p:nvSpPr>
        <p:spPr>
          <a:xfrm>
            <a:off x="502920" y="960120"/>
            <a:ext cx="7772400" cy="82296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Agentic AI Architecture</a:t>
            </a:r>
            <a:endParaRPr lang="en-US" sz="4200" dirty="0"/>
          </a:p>
        </p:txBody>
      </p:sp>
      <p:sp>
        <p:nvSpPr>
          <p:cNvPr id="5" name="Text 3"/>
          <p:cNvSpPr/>
          <p:nvPr/>
        </p:nvSpPr>
        <p:spPr>
          <a:xfrm>
            <a:off x="502920" y="1828800"/>
            <a:ext cx="7772400" cy="594360"/>
          </a:xfrm>
          <a:prstGeom prst="rect">
            <a:avLst/>
          </a:prstGeom>
          <a:noFill/>
          <a:ln/>
        </p:spPr>
        <p:txBody>
          <a:bodyPr wrap="square" rtlCol="0" anchor="ctr"/>
          <a:lstStyle/>
          <a:p>
            <a:pPr marL="0" indent="0" algn="l">
              <a:buNone/>
            </a:pPr>
            <a:r>
              <a:rPr lang="en-US" sz="2800" dirty="0">
                <a:solidFill>
                  <a:srgbClr val="CADCFC"/>
                </a:solidFill>
                <a:latin typeface="Calibri" pitchFamily="34" charset="0"/>
                <a:ea typeface="Calibri" pitchFamily="34" charset="-122"/>
                <a:cs typeface="Calibri" pitchFamily="34" charset="-120"/>
              </a:rPr>
              <a:t>&amp; Microsoft Foundry Agent Service</a:t>
            </a:r>
            <a:endParaRPr lang="en-US" sz="2800" dirty="0"/>
          </a:p>
        </p:txBody>
      </p:sp>
      <p:sp>
        <p:nvSpPr>
          <p:cNvPr id="6" name="Text 4"/>
          <p:cNvSpPr/>
          <p:nvPr/>
        </p:nvSpPr>
        <p:spPr>
          <a:xfrm>
            <a:off x="502920" y="2578608"/>
            <a:ext cx="7772400" cy="347472"/>
          </a:xfrm>
          <a:prstGeom prst="rect">
            <a:avLst/>
          </a:prstGeom>
          <a:noFill/>
          <a:ln/>
        </p:spPr>
        <p:txBody>
          <a:bodyPr wrap="square" rtlCol="0" anchor="ctr"/>
          <a:lstStyle/>
          <a:p>
            <a:pPr marL="0" indent="0" algn="l">
              <a:buNone/>
            </a:pPr>
            <a:r>
              <a:rPr lang="en-US" sz="1400" i="1" dirty="0">
                <a:solidFill>
                  <a:srgbClr val="7A9CC8"/>
                </a:solidFill>
                <a:latin typeface="Calibri" pitchFamily="34" charset="0"/>
                <a:ea typeface="Calibri" pitchFamily="34" charset="-122"/>
                <a:cs typeface="Calibri" pitchFamily="34" charset="-120"/>
              </a:rPr>
              <a:t>Solving for production</a:t>
            </a:r>
            <a:endParaRPr lang="en-US" sz="1400" dirty="0"/>
          </a:p>
        </p:txBody>
      </p:sp>
      <p:sp>
        <p:nvSpPr>
          <p:cNvPr id="7" name="Shape 5"/>
          <p:cNvSpPr/>
          <p:nvPr/>
        </p:nvSpPr>
        <p:spPr>
          <a:xfrm>
            <a:off x="502920" y="4206240"/>
            <a:ext cx="8138160" cy="0"/>
          </a:xfrm>
          <a:prstGeom prst="line">
            <a:avLst/>
          </a:prstGeom>
          <a:noFill/>
          <a:ln w="12700">
            <a:solidFill>
              <a:srgbClr val="2D4080"/>
            </a:solidFill>
            <a:prstDash val="solid"/>
          </a:ln>
        </p:spPr>
        <p:txBody>
          <a:bodyPr/>
          <a:lstStyle/>
          <a:p>
            <a:endParaRPr lang="en-US"/>
          </a:p>
        </p:txBody>
      </p:sp>
      <p:sp>
        <p:nvSpPr>
          <p:cNvPr id="8" name="Text 6"/>
          <p:cNvSpPr/>
          <p:nvPr/>
        </p:nvSpPr>
        <p:spPr>
          <a:xfrm>
            <a:off x="502920" y="4315968"/>
            <a:ext cx="8138160" cy="292608"/>
          </a:xfrm>
          <a:prstGeom prst="rect">
            <a:avLst/>
          </a:prstGeom>
          <a:noFill/>
          <a:ln/>
        </p:spPr>
        <p:txBody>
          <a:bodyPr wrap="square" rtlCol="0" anchor="ctr"/>
          <a:lstStyle/>
          <a:p>
            <a:pPr marL="0" indent="0" algn="l">
              <a:buNone/>
            </a:pPr>
            <a:r>
              <a:rPr lang="en-US" sz="1200" dirty="0">
                <a:solidFill>
                  <a:srgbClr val="5A7AA8"/>
                </a:solidFill>
                <a:latin typeface="Calibri" pitchFamily="34" charset="0"/>
                <a:ea typeface="Calibri" pitchFamily="34" charset="-122"/>
                <a:cs typeface="Calibri" pitchFamily="34" charset="-120"/>
              </a:rPr>
              <a:t>Brian Denicola  ·  </a:t>
            </a:r>
            <a:r>
              <a:rPr lang="en-US" sz="1200" dirty="0">
                <a:solidFill>
                  <a:srgbClr val="5A7AA8"/>
                </a:solidFill>
                <a:latin typeface="Calibri" pitchFamily="34" charset="0"/>
                <a:ea typeface="Calibri" pitchFamily="34" charset="-122"/>
                <a:cs typeface="Calibri" pitchFamily="34" charset="-120"/>
                <a:hlinkClick r:id="rId3"/>
              </a:rPr>
              <a:t>brdenico@microsoft.com</a:t>
            </a:r>
            <a:endParaRPr lang="en-US" sz="1200" dirty="0">
              <a:solidFill>
                <a:srgbClr val="5A7AA8"/>
              </a:solidFill>
              <a:latin typeface="Calibri" pitchFamily="34" charset="0"/>
              <a:ea typeface="Calibri" pitchFamily="34" charset="-122"/>
              <a:cs typeface="Calibri" pitchFamily="34" charset="-120"/>
            </a:endParaRPr>
          </a:p>
          <a:p>
            <a:pPr marL="0" indent="0" algn="l">
              <a:buNone/>
            </a:pPr>
            <a:r>
              <a:rPr lang="en-US" sz="1200" dirty="0">
                <a:solidFill>
                  <a:srgbClr val="5A7AA8"/>
                </a:solidFill>
                <a:latin typeface="Calibri" pitchFamily="34" charset="0"/>
                <a:ea typeface="Calibri" pitchFamily="34" charset="-122"/>
                <a:cs typeface="Calibri" pitchFamily="34" charset="-120"/>
              </a:rPr>
              <a:t>Principal Solution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Complete Single-Agent Architecture</a:t>
            </a:r>
            <a:endParaRPr lang="en-US" sz="2400" dirty="0"/>
          </a:p>
        </p:txBody>
      </p:sp>
      <p:sp>
        <p:nvSpPr>
          <p:cNvPr id="3" name="Text 1"/>
          <p:cNvSpPr/>
          <p:nvPr/>
        </p:nvSpPr>
        <p:spPr>
          <a:xfrm>
            <a:off x="365760" y="566928"/>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The harness owns the loop — the model only generates text</a:t>
            </a:r>
            <a:endParaRPr lang="en-US" sz="1300" dirty="0"/>
          </a:p>
        </p:txBody>
      </p:sp>
      <p:sp>
        <p:nvSpPr>
          <p:cNvPr id="4" name="Shape 2"/>
          <p:cNvSpPr/>
          <p:nvPr/>
        </p:nvSpPr>
        <p:spPr>
          <a:xfrm>
            <a:off x="2468880" y="868680"/>
            <a:ext cx="4206240" cy="3337560"/>
          </a:xfrm>
          <a:prstGeom prst="roundRect">
            <a:avLst>
              <a:gd name="adj" fmla="val 3288"/>
            </a:avLst>
          </a:prstGeom>
          <a:solidFill>
            <a:srgbClr val="EEF6FF"/>
          </a:solidFill>
          <a:ln w="19050">
            <a:solidFill>
              <a:srgbClr val="1971C2"/>
            </a:solidFill>
            <a:prstDash val="dash"/>
          </a:ln>
        </p:spPr>
        <p:txBody>
          <a:bodyPr/>
          <a:lstStyle/>
          <a:p>
            <a:endParaRPr lang="en-US"/>
          </a:p>
        </p:txBody>
      </p:sp>
      <p:sp>
        <p:nvSpPr>
          <p:cNvPr id="5" name="Text 3"/>
          <p:cNvSpPr/>
          <p:nvPr/>
        </p:nvSpPr>
        <p:spPr>
          <a:xfrm>
            <a:off x="2651760" y="914400"/>
            <a:ext cx="3840480" cy="256032"/>
          </a:xfrm>
          <a:prstGeom prst="rect">
            <a:avLst/>
          </a:prstGeom>
          <a:noFill/>
          <a:ln/>
        </p:spPr>
        <p:txBody>
          <a:bodyPr wrap="square" rtlCol="0" anchor="ctr"/>
          <a:lstStyle/>
          <a:p>
            <a:pPr marL="0" indent="0" algn="ctr">
              <a:buNone/>
            </a:pPr>
            <a:r>
              <a:rPr lang="en-US" sz="950" b="1" i="1" dirty="0">
                <a:solidFill>
                  <a:srgbClr val="1971C2"/>
                </a:solidFill>
                <a:latin typeface="Calibri" pitchFamily="34" charset="0"/>
                <a:ea typeface="Calibri" pitchFamily="34" charset="-122"/>
                <a:cs typeface="Calibri" pitchFamily="34" charset="-120"/>
              </a:rPr>
              <a:t>Agent Harness  (Framework / Runtime Layer)</a:t>
            </a:r>
            <a:endParaRPr lang="en-US" sz="950" dirty="0"/>
          </a:p>
        </p:txBody>
      </p:sp>
      <p:sp>
        <p:nvSpPr>
          <p:cNvPr id="6" name="Shape 4"/>
          <p:cNvSpPr/>
          <p:nvPr/>
        </p:nvSpPr>
        <p:spPr>
          <a:xfrm>
            <a:off x="2651760" y="1207008"/>
            <a:ext cx="3840480" cy="457200"/>
          </a:xfrm>
          <a:prstGeom prst="roundRect">
            <a:avLst>
              <a:gd name="adj" fmla="val 14000"/>
            </a:avLst>
          </a:prstGeom>
          <a:solidFill>
            <a:srgbClr val="A5D8FF"/>
          </a:solidFill>
          <a:ln w="12700">
            <a:solidFill>
              <a:srgbClr val="1971C2"/>
            </a:solidFill>
            <a:prstDash val="solid"/>
          </a:ln>
        </p:spPr>
        <p:txBody>
          <a:bodyPr/>
          <a:lstStyle/>
          <a:p>
            <a:endParaRPr lang="en-US"/>
          </a:p>
        </p:txBody>
      </p:sp>
      <p:sp>
        <p:nvSpPr>
          <p:cNvPr id="7" name="Text 5"/>
          <p:cNvSpPr/>
          <p:nvPr/>
        </p:nvSpPr>
        <p:spPr>
          <a:xfrm>
            <a:off x="2651760" y="1207008"/>
            <a:ext cx="3840480" cy="457200"/>
          </a:xfrm>
          <a:prstGeom prst="rect">
            <a:avLst/>
          </a:prstGeom>
          <a:noFill/>
          <a:ln/>
        </p:spPr>
        <p:txBody>
          <a:bodyPr wrap="square" lIns="0" tIns="0" rIns="0" bIns="0" rtlCol="0" anchor="ctr"/>
          <a:lstStyle/>
          <a:p>
            <a:pPr marL="0" indent="0" algn="ctr">
              <a:buNone/>
            </a:pPr>
            <a:r>
              <a:rPr lang="en-US" sz="850" dirty="0">
                <a:solidFill>
                  <a:srgbClr val="1E2761"/>
                </a:solidFill>
                <a:latin typeface="Calibri" pitchFamily="34" charset="0"/>
                <a:ea typeface="Calibri" pitchFamily="34" charset="-122"/>
                <a:cs typeface="Calibri" pitchFamily="34" charset="-120"/>
              </a:rPr>
              <a:t>Context Window  ·  System Prompt + Memory + History + Tool Results + User Prompt</a:t>
            </a:r>
            <a:endParaRPr lang="en-US" sz="850" dirty="0"/>
          </a:p>
        </p:txBody>
      </p:sp>
      <p:sp>
        <p:nvSpPr>
          <p:cNvPr id="8" name="Shape 6"/>
          <p:cNvSpPr/>
          <p:nvPr/>
        </p:nvSpPr>
        <p:spPr>
          <a:xfrm>
            <a:off x="2651760" y="1755648"/>
            <a:ext cx="3840480" cy="2331720"/>
          </a:xfrm>
          <a:prstGeom prst="roundRect">
            <a:avLst>
              <a:gd name="adj" fmla="val 3137"/>
            </a:avLst>
          </a:prstGeom>
          <a:solidFill>
            <a:srgbClr val="DDEEFF"/>
          </a:solidFill>
          <a:ln w="12700">
            <a:solidFill>
              <a:srgbClr val="1971C2"/>
            </a:solidFill>
            <a:prstDash val="solid"/>
          </a:ln>
        </p:spPr>
        <p:txBody>
          <a:bodyPr/>
          <a:lstStyle/>
          <a:p>
            <a:endParaRPr lang="en-US"/>
          </a:p>
        </p:txBody>
      </p:sp>
      <p:sp>
        <p:nvSpPr>
          <p:cNvPr id="9" name="Text 7"/>
          <p:cNvSpPr/>
          <p:nvPr/>
        </p:nvSpPr>
        <p:spPr>
          <a:xfrm>
            <a:off x="2651760" y="1801368"/>
            <a:ext cx="3840480" cy="256032"/>
          </a:xfrm>
          <a:prstGeom prst="rect">
            <a:avLst/>
          </a:prstGeom>
          <a:noFill/>
          <a:ln/>
        </p:spPr>
        <p:txBody>
          <a:bodyPr wrap="square" rtlCol="0" anchor="ctr"/>
          <a:lstStyle/>
          <a:p>
            <a:pPr marL="0" indent="0" algn="ctr">
              <a:buNone/>
            </a:pPr>
            <a:r>
              <a:rPr lang="en-US" sz="950" b="1" dirty="0">
                <a:solidFill>
                  <a:srgbClr val="1971C2"/>
                </a:solidFill>
                <a:latin typeface="Calibri" pitchFamily="34" charset="0"/>
                <a:ea typeface="Calibri" pitchFamily="34" charset="-122"/>
                <a:cs typeface="Calibri" pitchFamily="34" charset="-120"/>
              </a:rPr>
              <a:t>Tool Dispatch Loop</a:t>
            </a:r>
            <a:endParaRPr lang="en-US" sz="950" dirty="0"/>
          </a:p>
        </p:txBody>
      </p:sp>
      <p:sp>
        <p:nvSpPr>
          <p:cNvPr id="10" name="Text 8"/>
          <p:cNvSpPr/>
          <p:nvPr/>
        </p:nvSpPr>
        <p:spPr>
          <a:xfrm>
            <a:off x="2788920" y="2103120"/>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① Call model with context window</a:t>
            </a:r>
            <a:endParaRPr lang="en-US" sz="1000" dirty="0"/>
          </a:p>
        </p:txBody>
      </p:sp>
      <p:sp>
        <p:nvSpPr>
          <p:cNvPr id="11" name="Text 9"/>
          <p:cNvSpPr/>
          <p:nvPr/>
        </p:nvSpPr>
        <p:spPr>
          <a:xfrm>
            <a:off x="2788920" y="2432304"/>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② Parse model output for tool call instructions</a:t>
            </a:r>
            <a:endParaRPr lang="en-US" sz="1000" dirty="0"/>
          </a:p>
        </p:txBody>
      </p:sp>
      <p:sp>
        <p:nvSpPr>
          <p:cNvPr id="12" name="Text 10"/>
          <p:cNvSpPr/>
          <p:nvPr/>
        </p:nvSpPr>
        <p:spPr>
          <a:xfrm>
            <a:off x="2788920" y="2761488"/>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③ Execute tool  (HTTP / MCP / function)</a:t>
            </a:r>
            <a:endParaRPr lang="en-US" sz="1000" dirty="0"/>
          </a:p>
        </p:txBody>
      </p:sp>
      <p:sp>
        <p:nvSpPr>
          <p:cNvPr id="13" name="Text 11"/>
          <p:cNvSpPr/>
          <p:nvPr/>
        </p:nvSpPr>
        <p:spPr>
          <a:xfrm>
            <a:off x="2788920" y="3090672"/>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④ Append tool result to context window</a:t>
            </a:r>
            <a:endParaRPr lang="en-US" sz="1000" dirty="0"/>
          </a:p>
        </p:txBody>
      </p:sp>
      <p:sp>
        <p:nvSpPr>
          <p:cNvPr id="14" name="Text 12"/>
          <p:cNvSpPr/>
          <p:nvPr/>
        </p:nvSpPr>
        <p:spPr>
          <a:xfrm>
            <a:off x="2788920" y="3419856"/>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⑤ Repeat ①–④ until no tool calls remain</a:t>
            </a:r>
            <a:endParaRPr lang="en-US" sz="1000" dirty="0"/>
          </a:p>
        </p:txBody>
      </p:sp>
      <p:sp>
        <p:nvSpPr>
          <p:cNvPr id="15" name="Text 13"/>
          <p:cNvSpPr/>
          <p:nvPr/>
        </p:nvSpPr>
        <p:spPr>
          <a:xfrm>
            <a:off x="2788920" y="3749040"/>
            <a:ext cx="3566160" cy="310896"/>
          </a:xfrm>
          <a:prstGeom prst="rect">
            <a:avLst/>
          </a:prstGeom>
          <a:noFill/>
          <a:ln/>
        </p:spPr>
        <p:txBody>
          <a:bodyPr wrap="square" rtlCol="0" anchor="ctr"/>
          <a:lstStyle/>
          <a:p>
            <a:pPr marL="0" indent="0">
              <a:buNone/>
            </a:pPr>
            <a:r>
              <a:rPr lang="en-US" sz="1000" dirty="0">
                <a:solidFill>
                  <a:srgbClr val="343A40"/>
                </a:solidFill>
                <a:latin typeface="Calibri" pitchFamily="34" charset="0"/>
                <a:ea typeface="Calibri" pitchFamily="34" charset="-122"/>
                <a:cs typeface="Calibri" pitchFamily="34" charset="-120"/>
              </a:rPr>
              <a:t>⑥ Return final generated text</a:t>
            </a:r>
            <a:endParaRPr lang="en-US" sz="1000" dirty="0"/>
          </a:p>
        </p:txBody>
      </p:sp>
      <p:sp>
        <p:nvSpPr>
          <p:cNvPr id="16" name="Shape 14"/>
          <p:cNvSpPr/>
          <p:nvPr/>
        </p:nvSpPr>
        <p:spPr>
          <a:xfrm>
            <a:off x="182880" y="1828800"/>
            <a:ext cx="1371600" cy="685800"/>
          </a:xfrm>
          <a:prstGeom prst="roundRect">
            <a:avLst>
              <a:gd name="adj" fmla="val 13333"/>
            </a:avLst>
          </a:prstGeom>
          <a:solidFill>
            <a:srgbClr val="B2F2BB"/>
          </a:solidFill>
          <a:ln w="25400">
            <a:solidFill>
              <a:srgbClr val="2F9E44"/>
            </a:solidFill>
            <a:prstDash val="solid"/>
          </a:ln>
          <a:effectLst>
            <a:outerShdw blurRad="50800" dist="25400" dir="2700000" algn="bl" rotWithShape="0">
              <a:srgbClr val="000000">
                <a:alpha val="13000"/>
              </a:srgbClr>
            </a:outerShdw>
          </a:effectLst>
        </p:spPr>
        <p:txBody>
          <a:bodyPr/>
          <a:lstStyle/>
          <a:p>
            <a:endParaRPr lang="en-US"/>
          </a:p>
        </p:txBody>
      </p:sp>
      <p:sp>
        <p:nvSpPr>
          <p:cNvPr id="17" name="Text 15"/>
          <p:cNvSpPr/>
          <p:nvPr/>
        </p:nvSpPr>
        <p:spPr>
          <a:xfrm>
            <a:off x="182880" y="1828800"/>
            <a:ext cx="1371600" cy="685800"/>
          </a:xfrm>
          <a:prstGeom prst="rect">
            <a:avLst/>
          </a:prstGeom>
          <a:noFill/>
          <a:ln/>
        </p:spPr>
        <p:txBody>
          <a:bodyPr wrap="square" lIns="0" tIns="0" rIns="0" bIns="0"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Client</a:t>
            </a:r>
            <a:endParaRPr lang="en-US" sz="1400" dirty="0"/>
          </a:p>
        </p:txBody>
      </p:sp>
      <p:sp>
        <p:nvSpPr>
          <p:cNvPr id="18" name="Shape 16"/>
          <p:cNvSpPr/>
          <p:nvPr/>
        </p:nvSpPr>
        <p:spPr>
          <a:xfrm>
            <a:off x="1554480" y="2176272"/>
            <a:ext cx="914400" cy="0"/>
          </a:xfrm>
          <a:prstGeom prst="line">
            <a:avLst/>
          </a:prstGeom>
          <a:noFill/>
          <a:ln w="19050">
            <a:solidFill>
              <a:srgbClr val="343A40"/>
            </a:solidFill>
            <a:prstDash val="solid"/>
          </a:ln>
        </p:spPr>
        <p:txBody>
          <a:bodyPr/>
          <a:lstStyle/>
          <a:p>
            <a:endParaRPr lang="en-US"/>
          </a:p>
        </p:txBody>
      </p:sp>
      <p:sp>
        <p:nvSpPr>
          <p:cNvPr id="19" name="Text 17"/>
          <p:cNvSpPr/>
          <p:nvPr/>
        </p:nvSpPr>
        <p:spPr>
          <a:xfrm>
            <a:off x="1577340" y="1938528"/>
            <a:ext cx="868680" cy="475488"/>
          </a:xfrm>
          <a:prstGeom prst="rect">
            <a:avLst/>
          </a:prstGeom>
          <a:noFill/>
          <a:ln/>
        </p:spPr>
        <p:txBody>
          <a:bodyPr wrap="square" rtlCol="0" anchor="ctr"/>
          <a:lstStyle/>
          <a:p>
            <a:pPr marL="0" indent="0" algn="ctr">
              <a:buNone/>
            </a:pPr>
            <a:r>
              <a:rPr lang="en-US" sz="800" dirty="0">
                <a:solidFill>
                  <a:srgbClr val="868E96"/>
                </a:solidFill>
                <a:latin typeface="Calibri" pitchFamily="34" charset="0"/>
                <a:ea typeface="Calibri" pitchFamily="34" charset="-122"/>
                <a:cs typeface="Calibri" pitchFamily="34" charset="-120"/>
              </a:rPr>
              <a:t>Prompt</a:t>
            </a:r>
            <a:endParaRPr lang="en-US" sz="800" dirty="0"/>
          </a:p>
          <a:p>
            <a:pPr marL="0" indent="0" algn="ctr">
              <a:buNone/>
            </a:pPr>
            <a:r>
              <a:rPr lang="en-US" sz="800" dirty="0">
                <a:solidFill>
                  <a:srgbClr val="868E96"/>
                </a:solidFill>
                <a:latin typeface="Calibri" pitchFamily="34" charset="0"/>
                <a:ea typeface="Calibri" pitchFamily="34" charset="-122"/>
                <a:cs typeface="Calibri" pitchFamily="34" charset="-120"/>
              </a:rPr>
              <a:t>Response</a:t>
            </a:r>
            <a:endParaRPr lang="en-US" sz="800" dirty="0"/>
          </a:p>
        </p:txBody>
      </p:sp>
      <p:sp>
        <p:nvSpPr>
          <p:cNvPr id="20" name="Shape 18"/>
          <p:cNvSpPr/>
          <p:nvPr/>
        </p:nvSpPr>
        <p:spPr>
          <a:xfrm>
            <a:off x="7475220" y="932688"/>
            <a:ext cx="1531620" cy="731520"/>
          </a:xfrm>
          <a:prstGeom prst="roundRect">
            <a:avLst>
              <a:gd name="adj" fmla="val 12500"/>
            </a:avLst>
          </a:prstGeom>
          <a:solidFill>
            <a:srgbClr val="FFC9C9"/>
          </a:solidFill>
          <a:ln w="25400">
            <a:solidFill>
              <a:srgbClr val="C92A2A"/>
            </a:solidFill>
            <a:prstDash val="solid"/>
          </a:ln>
          <a:effectLst>
            <a:outerShdw blurRad="50800" dist="25400" dir="2700000" algn="bl" rotWithShape="0">
              <a:srgbClr val="000000">
                <a:alpha val="13000"/>
              </a:srgbClr>
            </a:outerShdw>
          </a:effectLst>
        </p:spPr>
        <p:txBody>
          <a:bodyPr/>
          <a:lstStyle/>
          <a:p>
            <a:endParaRPr lang="en-US"/>
          </a:p>
        </p:txBody>
      </p:sp>
      <p:sp>
        <p:nvSpPr>
          <p:cNvPr id="21" name="Text 19"/>
          <p:cNvSpPr/>
          <p:nvPr/>
        </p:nvSpPr>
        <p:spPr>
          <a:xfrm>
            <a:off x="7292340" y="1002471"/>
            <a:ext cx="1783080" cy="731520"/>
          </a:xfrm>
          <a:prstGeom prst="rect">
            <a:avLst/>
          </a:prstGeom>
          <a:noFill/>
          <a:ln/>
        </p:spPr>
        <p:txBody>
          <a:bodyPr wrap="square" lIns="0" tIns="0" rIns="0" bIns="0" rtlCol="0" anchor="ctr"/>
          <a:lstStyle/>
          <a:p>
            <a:pPr marL="0" indent="0" algn="ctr">
              <a:buNone/>
            </a:pPr>
            <a:r>
              <a:rPr lang="en-US" sz="1200" b="1" dirty="0">
                <a:solidFill>
                  <a:srgbClr val="7A0000"/>
                </a:solidFill>
                <a:latin typeface="Calibri" pitchFamily="34" charset="0"/>
                <a:ea typeface="Calibri" pitchFamily="34" charset="-122"/>
                <a:cs typeface="Calibri" pitchFamily="34" charset="-120"/>
              </a:rPr>
              <a:t>Model / LLM</a:t>
            </a:r>
            <a:endParaRPr lang="en-US" sz="1200" dirty="0"/>
          </a:p>
        </p:txBody>
      </p:sp>
      <p:sp>
        <p:nvSpPr>
          <p:cNvPr id="22" name="Shape 20"/>
          <p:cNvSpPr/>
          <p:nvPr/>
        </p:nvSpPr>
        <p:spPr>
          <a:xfrm flipV="1">
            <a:off x="6675120" y="1371600"/>
            <a:ext cx="800100" cy="0"/>
          </a:xfrm>
          <a:prstGeom prst="line">
            <a:avLst/>
          </a:prstGeom>
          <a:noFill/>
          <a:ln w="19050">
            <a:solidFill>
              <a:srgbClr val="343A40"/>
            </a:solidFill>
            <a:prstDash val="solid"/>
          </a:ln>
        </p:spPr>
        <p:txBody>
          <a:bodyPr/>
          <a:lstStyle/>
          <a:p>
            <a:endParaRPr lang="en-US"/>
          </a:p>
        </p:txBody>
      </p:sp>
      <p:sp>
        <p:nvSpPr>
          <p:cNvPr id="24" name="Text 22"/>
          <p:cNvSpPr/>
          <p:nvPr/>
        </p:nvSpPr>
        <p:spPr>
          <a:xfrm>
            <a:off x="6743700" y="1353312"/>
            <a:ext cx="914400" cy="289962"/>
          </a:xfrm>
          <a:prstGeom prst="rect">
            <a:avLst/>
          </a:prstGeom>
          <a:noFill/>
          <a:ln/>
        </p:spPr>
        <p:txBody>
          <a:bodyPr wrap="square" rtlCol="0" anchor="ctr"/>
          <a:lstStyle/>
          <a:p>
            <a:pPr marL="0" indent="0">
              <a:buNone/>
            </a:pPr>
            <a:r>
              <a:rPr lang="en-US" sz="800" dirty="0">
                <a:solidFill>
                  <a:srgbClr val="868E96"/>
                </a:solidFill>
                <a:latin typeface="Calibri" pitchFamily="34" charset="0"/>
                <a:ea typeface="Calibri" pitchFamily="34" charset="-122"/>
                <a:cs typeface="Calibri" pitchFamily="34" charset="-120"/>
              </a:rPr>
              <a:t>Completion</a:t>
            </a:r>
            <a:endParaRPr lang="en-US" sz="800" dirty="0"/>
          </a:p>
        </p:txBody>
      </p:sp>
      <p:sp>
        <p:nvSpPr>
          <p:cNvPr id="25" name="Shape 23"/>
          <p:cNvSpPr/>
          <p:nvPr/>
        </p:nvSpPr>
        <p:spPr>
          <a:xfrm>
            <a:off x="7680960" y="2286000"/>
            <a:ext cx="1143000" cy="685800"/>
          </a:xfrm>
          <a:prstGeom prst="ellipse">
            <a:avLst/>
          </a:prstGeom>
          <a:solidFill>
            <a:srgbClr val="FFF3BF"/>
          </a:solidFill>
          <a:ln w="25400">
            <a:solidFill>
              <a:srgbClr val="E8590C"/>
            </a:solidFill>
            <a:prstDash val="solid"/>
          </a:ln>
          <a:effectLst>
            <a:outerShdw blurRad="50800" dist="25400" dir="2700000" algn="bl" rotWithShape="0">
              <a:srgbClr val="000000">
                <a:alpha val="13000"/>
              </a:srgbClr>
            </a:outerShdw>
          </a:effectLst>
        </p:spPr>
        <p:txBody>
          <a:bodyPr/>
          <a:lstStyle/>
          <a:p>
            <a:endParaRPr lang="en-US"/>
          </a:p>
        </p:txBody>
      </p:sp>
      <p:sp>
        <p:nvSpPr>
          <p:cNvPr id="26" name="Text 24"/>
          <p:cNvSpPr/>
          <p:nvPr/>
        </p:nvSpPr>
        <p:spPr>
          <a:xfrm>
            <a:off x="7635240" y="2286000"/>
            <a:ext cx="1188720" cy="685800"/>
          </a:xfrm>
          <a:prstGeom prst="rect">
            <a:avLst/>
          </a:prstGeom>
          <a:noFill/>
          <a:ln/>
        </p:spPr>
        <p:txBody>
          <a:bodyPr wrap="square" lIns="0" tIns="0" rIns="0" bIns="0" rtlCol="0" anchor="ctr"/>
          <a:lstStyle/>
          <a:p>
            <a:pPr marL="0" indent="0" algn="ctr">
              <a:buNone/>
            </a:pPr>
            <a:r>
              <a:rPr lang="en-US" sz="1100" b="1" dirty="0">
                <a:solidFill>
                  <a:srgbClr val="E67700"/>
                </a:solidFill>
                <a:latin typeface="Calibri" pitchFamily="34" charset="0"/>
                <a:ea typeface="Calibri" pitchFamily="34" charset="-122"/>
                <a:cs typeface="Calibri" pitchFamily="34" charset="-120"/>
              </a:rPr>
              <a:t>Tools / APIs</a:t>
            </a:r>
            <a:endParaRPr lang="en-US" sz="1100" dirty="0"/>
          </a:p>
          <a:p>
            <a:pPr marL="0" indent="0" algn="ctr">
              <a:buNone/>
            </a:pPr>
            <a:r>
              <a:rPr lang="en-US" sz="1100" b="1" dirty="0">
                <a:solidFill>
                  <a:srgbClr val="E67700"/>
                </a:solidFill>
                <a:latin typeface="Calibri" pitchFamily="34" charset="0"/>
                <a:ea typeface="Calibri" pitchFamily="34" charset="-122"/>
                <a:cs typeface="Calibri" pitchFamily="34" charset="-120"/>
              </a:rPr>
              <a:t>(via MCP)</a:t>
            </a:r>
            <a:endParaRPr lang="en-US" sz="1100" dirty="0"/>
          </a:p>
        </p:txBody>
      </p:sp>
      <p:sp>
        <p:nvSpPr>
          <p:cNvPr id="27" name="Shape 25"/>
          <p:cNvSpPr/>
          <p:nvPr/>
        </p:nvSpPr>
        <p:spPr>
          <a:xfrm>
            <a:off x="6697980" y="2624087"/>
            <a:ext cx="982980" cy="0"/>
          </a:xfrm>
          <a:prstGeom prst="line">
            <a:avLst/>
          </a:prstGeom>
          <a:noFill/>
          <a:ln w="19050">
            <a:solidFill>
              <a:srgbClr val="343A40"/>
            </a:solidFill>
            <a:prstDash val="solid"/>
          </a:ln>
        </p:spPr>
        <p:txBody>
          <a:bodyPr/>
          <a:lstStyle/>
          <a:p>
            <a:endParaRPr lang="en-US" dirty="0"/>
          </a:p>
        </p:txBody>
      </p:sp>
      <p:sp>
        <p:nvSpPr>
          <p:cNvPr id="28" name="Text 26"/>
          <p:cNvSpPr/>
          <p:nvPr/>
        </p:nvSpPr>
        <p:spPr>
          <a:xfrm>
            <a:off x="6880860" y="2638285"/>
            <a:ext cx="914400" cy="256032"/>
          </a:xfrm>
          <a:prstGeom prst="rect">
            <a:avLst/>
          </a:prstGeom>
          <a:noFill/>
          <a:ln/>
        </p:spPr>
        <p:txBody>
          <a:bodyPr wrap="square" rtlCol="0" anchor="ctr"/>
          <a:lstStyle/>
          <a:p>
            <a:pPr marL="0" indent="0">
              <a:buNone/>
            </a:pPr>
            <a:r>
              <a:rPr lang="en-US" sz="800" dirty="0">
                <a:solidFill>
                  <a:srgbClr val="868E96"/>
                </a:solidFill>
                <a:latin typeface="Calibri" pitchFamily="34" charset="0"/>
                <a:ea typeface="Calibri" pitchFamily="34" charset="-122"/>
                <a:cs typeface="Calibri" pitchFamily="34" charset="-120"/>
              </a:rPr>
              <a:t>Call / Result</a:t>
            </a:r>
            <a:endParaRPr lang="en-US" sz="800" dirty="0"/>
          </a:p>
        </p:txBody>
      </p:sp>
      <p:sp>
        <p:nvSpPr>
          <p:cNvPr id="29" name="Text 27"/>
          <p:cNvSpPr/>
          <p:nvPr/>
        </p:nvSpPr>
        <p:spPr>
          <a:xfrm>
            <a:off x="2606040" y="4251960"/>
            <a:ext cx="2011680" cy="228600"/>
          </a:xfrm>
          <a:prstGeom prst="rect">
            <a:avLst/>
          </a:prstGeom>
          <a:noFill/>
          <a:ln/>
        </p:spPr>
        <p:txBody>
          <a:bodyPr wrap="square" rtlCol="0" anchor="ctr"/>
          <a:lstStyle/>
          <a:p>
            <a:pPr marL="0" indent="0">
              <a:buNone/>
            </a:pPr>
            <a:r>
              <a:rPr lang="en-US" sz="950" b="1" dirty="0">
                <a:solidFill>
                  <a:srgbClr val="E67700"/>
                </a:solidFill>
                <a:latin typeface="Calibri" pitchFamily="34" charset="0"/>
                <a:ea typeface="Calibri" pitchFamily="34" charset="-122"/>
                <a:cs typeface="Calibri" pitchFamily="34" charset="-120"/>
              </a:rPr>
              <a:t>Memory  (read ↕ write)</a:t>
            </a:r>
            <a:endParaRPr lang="en-US" sz="950" dirty="0"/>
          </a:p>
        </p:txBody>
      </p:sp>
      <p:sp>
        <p:nvSpPr>
          <p:cNvPr id="30" name="Shape 28"/>
          <p:cNvSpPr/>
          <p:nvPr/>
        </p:nvSpPr>
        <p:spPr>
          <a:xfrm>
            <a:off x="2514600" y="4343400"/>
            <a:ext cx="4389120" cy="530352"/>
          </a:xfrm>
          <a:prstGeom prst="roundRect">
            <a:avLst>
              <a:gd name="adj" fmla="val 13793"/>
            </a:avLst>
          </a:prstGeom>
          <a:solidFill>
            <a:srgbClr val="FFF3BF"/>
          </a:solidFill>
          <a:ln w="25400">
            <a:solidFill>
              <a:srgbClr val="E8590C"/>
            </a:solidFill>
            <a:prstDash val="solid"/>
          </a:ln>
          <a:effectLst>
            <a:outerShdw blurRad="50800" dist="25400" dir="2700000" algn="bl" rotWithShape="0">
              <a:srgbClr val="000000">
                <a:alpha val="13000"/>
              </a:srgbClr>
            </a:outerShdw>
          </a:effectLst>
        </p:spPr>
        <p:txBody>
          <a:bodyPr/>
          <a:lstStyle/>
          <a:p>
            <a:endParaRPr lang="en-US"/>
          </a:p>
        </p:txBody>
      </p:sp>
      <p:sp>
        <p:nvSpPr>
          <p:cNvPr id="31" name="Shape 29"/>
          <p:cNvSpPr/>
          <p:nvPr/>
        </p:nvSpPr>
        <p:spPr>
          <a:xfrm>
            <a:off x="3611880" y="4343400"/>
            <a:ext cx="0" cy="530352"/>
          </a:xfrm>
          <a:prstGeom prst="line">
            <a:avLst/>
          </a:prstGeom>
          <a:noFill/>
          <a:ln w="12700">
            <a:solidFill>
              <a:srgbClr val="E8590C"/>
            </a:solidFill>
            <a:prstDash val="solid"/>
          </a:ln>
        </p:spPr>
        <p:txBody>
          <a:bodyPr/>
          <a:lstStyle/>
          <a:p>
            <a:endParaRPr lang="en-US"/>
          </a:p>
        </p:txBody>
      </p:sp>
      <p:sp>
        <p:nvSpPr>
          <p:cNvPr id="32" name="Shape 30"/>
          <p:cNvSpPr/>
          <p:nvPr/>
        </p:nvSpPr>
        <p:spPr>
          <a:xfrm>
            <a:off x="4709160" y="4343400"/>
            <a:ext cx="0" cy="530352"/>
          </a:xfrm>
          <a:prstGeom prst="line">
            <a:avLst/>
          </a:prstGeom>
          <a:noFill/>
          <a:ln w="12700">
            <a:solidFill>
              <a:srgbClr val="E8590C"/>
            </a:solidFill>
            <a:prstDash val="solid"/>
          </a:ln>
        </p:spPr>
        <p:txBody>
          <a:bodyPr/>
          <a:lstStyle/>
          <a:p>
            <a:endParaRPr lang="en-US"/>
          </a:p>
        </p:txBody>
      </p:sp>
      <p:sp>
        <p:nvSpPr>
          <p:cNvPr id="33" name="Shape 31"/>
          <p:cNvSpPr/>
          <p:nvPr/>
        </p:nvSpPr>
        <p:spPr>
          <a:xfrm>
            <a:off x="5806440" y="4343400"/>
            <a:ext cx="0" cy="530352"/>
          </a:xfrm>
          <a:prstGeom prst="line">
            <a:avLst/>
          </a:prstGeom>
          <a:noFill/>
          <a:ln w="12700">
            <a:solidFill>
              <a:srgbClr val="E8590C"/>
            </a:solidFill>
            <a:prstDash val="solid"/>
          </a:ln>
        </p:spPr>
        <p:txBody>
          <a:bodyPr/>
          <a:lstStyle/>
          <a:p>
            <a:endParaRPr lang="en-US"/>
          </a:p>
        </p:txBody>
      </p:sp>
      <p:sp>
        <p:nvSpPr>
          <p:cNvPr id="34" name="Text 32"/>
          <p:cNvSpPr/>
          <p:nvPr/>
        </p:nvSpPr>
        <p:spPr>
          <a:xfrm>
            <a:off x="2551176" y="4343400"/>
            <a:ext cx="1051560" cy="530352"/>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Working</a:t>
            </a:r>
            <a:endParaRPr lang="en-US" sz="900" dirty="0"/>
          </a:p>
          <a:p>
            <a:pPr marL="0" indent="0" algn="ctr">
              <a:buNone/>
            </a:pPr>
            <a:r>
              <a:rPr lang="en-US" sz="900" dirty="0">
                <a:solidFill>
                  <a:srgbClr val="E67700"/>
                </a:solidFill>
                <a:latin typeface="Calibri" pitchFamily="34" charset="0"/>
                <a:ea typeface="Calibri" pitchFamily="34" charset="-122"/>
                <a:cs typeface="Calibri" pitchFamily="34" charset="-120"/>
              </a:rPr>
              <a:t>(context)</a:t>
            </a:r>
            <a:endParaRPr lang="en-US" sz="900" dirty="0"/>
          </a:p>
        </p:txBody>
      </p:sp>
      <p:sp>
        <p:nvSpPr>
          <p:cNvPr id="35" name="Text 33"/>
          <p:cNvSpPr/>
          <p:nvPr/>
        </p:nvSpPr>
        <p:spPr>
          <a:xfrm>
            <a:off x="3648456" y="4343400"/>
            <a:ext cx="1051560" cy="530352"/>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Session</a:t>
            </a:r>
            <a:endParaRPr lang="en-US" sz="900" dirty="0"/>
          </a:p>
        </p:txBody>
      </p:sp>
      <p:sp>
        <p:nvSpPr>
          <p:cNvPr id="36" name="Text 34"/>
          <p:cNvSpPr/>
          <p:nvPr/>
        </p:nvSpPr>
        <p:spPr>
          <a:xfrm>
            <a:off x="4745736" y="4343400"/>
            <a:ext cx="1051560" cy="530352"/>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Long-term</a:t>
            </a:r>
            <a:endParaRPr lang="en-US" sz="900" dirty="0"/>
          </a:p>
          <a:p>
            <a:pPr marL="0" indent="0" algn="ctr">
              <a:buNone/>
            </a:pPr>
            <a:r>
              <a:rPr lang="en-US" sz="900" dirty="0">
                <a:solidFill>
                  <a:srgbClr val="E67700"/>
                </a:solidFill>
                <a:latin typeface="Calibri" pitchFamily="34" charset="0"/>
                <a:ea typeface="Calibri" pitchFamily="34" charset="-122"/>
                <a:cs typeface="Calibri" pitchFamily="34" charset="-120"/>
              </a:rPr>
              <a:t>(semantic)</a:t>
            </a:r>
            <a:endParaRPr lang="en-US" sz="900" dirty="0"/>
          </a:p>
        </p:txBody>
      </p:sp>
      <p:sp>
        <p:nvSpPr>
          <p:cNvPr id="37" name="Text 35"/>
          <p:cNvSpPr/>
          <p:nvPr/>
        </p:nvSpPr>
        <p:spPr>
          <a:xfrm>
            <a:off x="5843016" y="4343400"/>
            <a:ext cx="1051560" cy="530352"/>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Procedural</a:t>
            </a:r>
            <a:endParaRPr lang="en-US" sz="900" dirty="0"/>
          </a:p>
        </p:txBody>
      </p:sp>
      <p:sp>
        <p:nvSpPr>
          <p:cNvPr id="38" name="Shape 36"/>
          <p:cNvSpPr/>
          <p:nvPr/>
        </p:nvSpPr>
        <p:spPr>
          <a:xfrm>
            <a:off x="4572000" y="4206240"/>
            <a:ext cx="0" cy="137160"/>
          </a:xfrm>
          <a:prstGeom prst="line">
            <a:avLst/>
          </a:prstGeom>
          <a:noFill/>
          <a:ln w="19050">
            <a:solidFill>
              <a:srgbClr val="343A40"/>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700" b="1" dirty="0">
                <a:solidFill>
                  <a:srgbClr val="1E2761"/>
                </a:solidFill>
                <a:latin typeface="Calibri" pitchFamily="34" charset="0"/>
                <a:ea typeface="Calibri" pitchFamily="34" charset="-122"/>
                <a:cs typeface="Calibri" pitchFamily="34" charset="-120"/>
              </a:rPr>
              <a:t>Scaling to Multi-Agent</a:t>
            </a:r>
            <a:endParaRPr lang="en-US" sz="2700" dirty="0"/>
          </a:p>
        </p:txBody>
      </p:sp>
      <p:sp>
        <p:nvSpPr>
          <p:cNvPr id="3" name="Text 1"/>
          <p:cNvSpPr/>
          <p:nvPr/>
        </p:nvSpPr>
        <p:spPr>
          <a:xfrm>
            <a:off x="365760" y="566928"/>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Orchestrator plans and routes — sub-agents execute in parallel via the A2A protocol</a:t>
            </a:r>
            <a:endParaRPr lang="en-US" sz="1300" dirty="0"/>
          </a:p>
        </p:txBody>
      </p:sp>
      <p:sp>
        <p:nvSpPr>
          <p:cNvPr id="4" name="Shape 2"/>
          <p:cNvSpPr/>
          <p:nvPr/>
        </p:nvSpPr>
        <p:spPr>
          <a:xfrm>
            <a:off x="182880" y="1371600"/>
            <a:ext cx="1325880" cy="685800"/>
          </a:xfrm>
          <a:prstGeom prst="roundRect">
            <a:avLst>
              <a:gd name="adj" fmla="val 13333"/>
            </a:avLst>
          </a:prstGeom>
          <a:solidFill>
            <a:srgbClr val="B2F2BB"/>
          </a:solidFill>
          <a:ln w="25400">
            <a:solidFill>
              <a:srgbClr val="2F9E44"/>
            </a:solidFill>
            <a:prstDash val="solid"/>
          </a:ln>
          <a:effectLst>
            <a:outerShdw blurRad="50800" dist="25400" dir="2700000" algn="bl" rotWithShape="0">
              <a:srgbClr val="000000">
                <a:alpha val="13000"/>
              </a:srgbClr>
            </a:outerShdw>
          </a:effectLst>
        </p:spPr>
        <p:txBody>
          <a:bodyPr/>
          <a:lstStyle/>
          <a:p>
            <a:endParaRPr lang="en-US"/>
          </a:p>
        </p:txBody>
      </p:sp>
      <p:sp>
        <p:nvSpPr>
          <p:cNvPr id="5" name="Text 3"/>
          <p:cNvSpPr/>
          <p:nvPr/>
        </p:nvSpPr>
        <p:spPr>
          <a:xfrm>
            <a:off x="182880" y="1371600"/>
            <a:ext cx="1325880" cy="685800"/>
          </a:xfrm>
          <a:prstGeom prst="rect">
            <a:avLst/>
          </a:prstGeom>
          <a:noFill/>
          <a:ln/>
        </p:spPr>
        <p:txBody>
          <a:bodyPr wrap="square" lIns="0" tIns="0" rIns="0" bIns="0"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Client</a:t>
            </a:r>
            <a:endParaRPr lang="en-US" sz="1400" dirty="0"/>
          </a:p>
        </p:txBody>
      </p:sp>
      <p:sp>
        <p:nvSpPr>
          <p:cNvPr id="6" name="Shape 4"/>
          <p:cNvSpPr/>
          <p:nvPr/>
        </p:nvSpPr>
        <p:spPr>
          <a:xfrm>
            <a:off x="1508760" y="1719072"/>
            <a:ext cx="960120" cy="0"/>
          </a:xfrm>
          <a:prstGeom prst="line">
            <a:avLst/>
          </a:prstGeom>
          <a:noFill/>
          <a:ln w="19050">
            <a:solidFill>
              <a:srgbClr val="343A40"/>
            </a:solidFill>
            <a:prstDash val="solid"/>
          </a:ln>
        </p:spPr>
        <p:txBody>
          <a:bodyPr/>
          <a:lstStyle/>
          <a:p>
            <a:endParaRPr lang="en-US"/>
          </a:p>
        </p:txBody>
      </p:sp>
      <p:sp>
        <p:nvSpPr>
          <p:cNvPr id="7" name="Shape 5"/>
          <p:cNvSpPr/>
          <p:nvPr/>
        </p:nvSpPr>
        <p:spPr>
          <a:xfrm>
            <a:off x="2468880" y="1097280"/>
            <a:ext cx="4206240" cy="1005840"/>
          </a:xfrm>
          <a:prstGeom prst="roundRect">
            <a:avLst>
              <a:gd name="adj" fmla="val 9091"/>
            </a:avLst>
          </a:prstGeom>
          <a:solidFill>
            <a:srgbClr val="1E2761"/>
          </a:solidFill>
          <a:ln w="25400">
            <a:solidFill>
              <a:srgbClr val="1E2761"/>
            </a:solidFill>
            <a:prstDash val="solid"/>
          </a:ln>
          <a:effectLst>
            <a:outerShdw blurRad="50800" dist="25400" dir="2700000" algn="bl" rotWithShape="0">
              <a:srgbClr val="000000">
                <a:alpha val="13000"/>
              </a:srgbClr>
            </a:outerShdw>
          </a:effectLst>
        </p:spPr>
        <p:txBody>
          <a:bodyPr/>
          <a:lstStyle/>
          <a:p>
            <a:endParaRPr lang="en-US"/>
          </a:p>
        </p:txBody>
      </p:sp>
      <p:sp>
        <p:nvSpPr>
          <p:cNvPr id="8" name="Text 6"/>
          <p:cNvSpPr/>
          <p:nvPr/>
        </p:nvSpPr>
        <p:spPr>
          <a:xfrm>
            <a:off x="2468880" y="1097280"/>
            <a:ext cx="4206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Orchestrator Agent</a:t>
            </a:r>
            <a:endParaRPr lang="en-US" sz="1600" dirty="0"/>
          </a:p>
        </p:txBody>
      </p:sp>
      <p:sp>
        <p:nvSpPr>
          <p:cNvPr id="9" name="Text 7"/>
          <p:cNvSpPr/>
          <p:nvPr/>
        </p:nvSpPr>
        <p:spPr>
          <a:xfrm>
            <a:off x="2468880" y="1645920"/>
            <a:ext cx="4206240" cy="347472"/>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Planner  ·  Router  ·  State Manager  ·  A2A Coordinator</a:t>
            </a:r>
            <a:endParaRPr lang="en-US" sz="950" dirty="0"/>
          </a:p>
        </p:txBody>
      </p:sp>
      <p:sp>
        <p:nvSpPr>
          <p:cNvPr id="10" name="Shape 8"/>
          <p:cNvSpPr/>
          <p:nvPr/>
        </p:nvSpPr>
        <p:spPr>
          <a:xfrm>
            <a:off x="4572000" y="2103120"/>
            <a:ext cx="0" cy="411480"/>
          </a:xfrm>
          <a:prstGeom prst="line">
            <a:avLst/>
          </a:prstGeom>
          <a:noFill/>
          <a:ln w="19050">
            <a:solidFill>
              <a:srgbClr val="868E96"/>
            </a:solidFill>
            <a:prstDash val="solid"/>
          </a:ln>
        </p:spPr>
        <p:txBody>
          <a:bodyPr/>
          <a:lstStyle/>
          <a:p>
            <a:endParaRPr lang="en-US"/>
          </a:p>
        </p:txBody>
      </p:sp>
      <p:sp>
        <p:nvSpPr>
          <p:cNvPr id="11" name="Shape 9"/>
          <p:cNvSpPr/>
          <p:nvPr/>
        </p:nvSpPr>
        <p:spPr>
          <a:xfrm>
            <a:off x="777240" y="2514600"/>
            <a:ext cx="7680960" cy="0"/>
          </a:xfrm>
          <a:prstGeom prst="line">
            <a:avLst/>
          </a:prstGeom>
          <a:noFill/>
          <a:ln w="19050">
            <a:solidFill>
              <a:srgbClr val="868E96"/>
            </a:solidFill>
            <a:prstDash val="dash"/>
          </a:ln>
        </p:spPr>
        <p:txBody>
          <a:bodyPr/>
          <a:lstStyle/>
          <a:p>
            <a:endParaRPr lang="en-US"/>
          </a:p>
        </p:txBody>
      </p:sp>
      <p:sp>
        <p:nvSpPr>
          <p:cNvPr id="12" name="Text 10"/>
          <p:cNvSpPr/>
          <p:nvPr/>
        </p:nvSpPr>
        <p:spPr>
          <a:xfrm>
            <a:off x="3749040" y="2304288"/>
            <a:ext cx="1645920" cy="201168"/>
          </a:xfrm>
          <a:prstGeom prst="rect">
            <a:avLst/>
          </a:prstGeom>
          <a:noFill/>
          <a:ln/>
        </p:spPr>
        <p:txBody>
          <a:bodyPr wrap="square" rtlCol="0" anchor="ctr"/>
          <a:lstStyle/>
          <a:p>
            <a:pPr marL="0" indent="0" algn="ctr">
              <a:buNone/>
            </a:pPr>
            <a:r>
              <a:rPr lang="en-US" sz="900" b="1" i="1" dirty="0">
                <a:solidFill>
                  <a:srgbClr val="1971C2"/>
                </a:solidFill>
                <a:latin typeface="Calibri" pitchFamily="34" charset="0"/>
                <a:ea typeface="Calibri" pitchFamily="34" charset="-122"/>
                <a:cs typeface="Calibri" pitchFamily="34" charset="-120"/>
              </a:rPr>
              <a:t>A2A Protocol</a:t>
            </a:r>
            <a:endParaRPr lang="en-US" sz="900" dirty="0"/>
          </a:p>
        </p:txBody>
      </p:sp>
      <p:sp>
        <p:nvSpPr>
          <p:cNvPr id="13" name="Shape 11"/>
          <p:cNvSpPr/>
          <p:nvPr/>
        </p:nvSpPr>
        <p:spPr>
          <a:xfrm>
            <a:off x="1188720" y="2514600"/>
            <a:ext cx="0" cy="320040"/>
          </a:xfrm>
          <a:prstGeom prst="line">
            <a:avLst/>
          </a:prstGeom>
          <a:noFill/>
          <a:ln w="19050">
            <a:solidFill>
              <a:srgbClr val="868E96"/>
            </a:solidFill>
            <a:prstDash val="solid"/>
          </a:ln>
        </p:spPr>
        <p:txBody>
          <a:bodyPr/>
          <a:lstStyle/>
          <a:p>
            <a:endParaRPr lang="en-US"/>
          </a:p>
        </p:txBody>
      </p:sp>
      <p:sp>
        <p:nvSpPr>
          <p:cNvPr id="14" name="Shape 12"/>
          <p:cNvSpPr/>
          <p:nvPr/>
        </p:nvSpPr>
        <p:spPr>
          <a:xfrm>
            <a:off x="182880" y="2834640"/>
            <a:ext cx="2011680" cy="777240"/>
          </a:xfrm>
          <a:prstGeom prst="roundRect">
            <a:avLst>
              <a:gd name="adj" fmla="val 11765"/>
            </a:avLst>
          </a:prstGeom>
          <a:solidFill>
            <a:srgbClr val="A5D8FF"/>
          </a:solidFill>
          <a:ln w="25400">
            <a:solidFill>
              <a:srgbClr val="1971C2"/>
            </a:solidFill>
            <a:prstDash val="solid"/>
          </a:ln>
          <a:effectLst>
            <a:outerShdw blurRad="50800" dist="25400" dir="2700000" algn="bl" rotWithShape="0">
              <a:srgbClr val="000000">
                <a:alpha val="13000"/>
              </a:srgbClr>
            </a:outerShdw>
          </a:effectLst>
        </p:spPr>
        <p:txBody>
          <a:bodyPr/>
          <a:lstStyle/>
          <a:p>
            <a:endParaRPr lang="en-US"/>
          </a:p>
        </p:txBody>
      </p:sp>
      <p:sp>
        <p:nvSpPr>
          <p:cNvPr id="15" name="Text 13"/>
          <p:cNvSpPr/>
          <p:nvPr/>
        </p:nvSpPr>
        <p:spPr>
          <a:xfrm>
            <a:off x="182880" y="2834640"/>
            <a:ext cx="2011680" cy="777240"/>
          </a:xfrm>
          <a:prstGeom prst="rect">
            <a:avLst/>
          </a:prstGeom>
          <a:noFill/>
          <a:ln/>
        </p:spPr>
        <p:txBody>
          <a:bodyPr wrap="square" lIns="0" tIns="0" rIns="0" bIns="0" rtlCol="0" anchor="ctr"/>
          <a:lstStyle/>
          <a:p>
            <a:pPr marL="0" indent="0" algn="ctr">
              <a:buNone/>
            </a:pPr>
            <a:r>
              <a:rPr lang="en-US" sz="1300" b="1" dirty="0">
                <a:solidFill>
                  <a:srgbClr val="343A40"/>
                </a:solidFill>
                <a:latin typeface="Calibri" pitchFamily="34" charset="0"/>
                <a:ea typeface="Calibri" pitchFamily="34" charset="-122"/>
                <a:cs typeface="Calibri" pitchFamily="34" charset="-120"/>
              </a:rPr>
              <a:t>Research</a:t>
            </a:r>
            <a:endParaRPr lang="en-US" sz="1300" dirty="0"/>
          </a:p>
          <a:p>
            <a:pPr marL="0" indent="0" algn="ctr">
              <a:buNone/>
            </a:pPr>
            <a:r>
              <a:rPr lang="en-US" sz="1300" b="1" dirty="0">
                <a:solidFill>
                  <a:srgbClr val="343A40"/>
                </a:solidFill>
                <a:latin typeface="Calibri" pitchFamily="34" charset="0"/>
                <a:ea typeface="Calibri" pitchFamily="34" charset="-122"/>
                <a:cs typeface="Calibri" pitchFamily="34" charset="-120"/>
              </a:rPr>
              <a:t>Agent</a:t>
            </a:r>
            <a:endParaRPr lang="en-US" sz="1300" dirty="0"/>
          </a:p>
        </p:txBody>
      </p:sp>
      <p:sp>
        <p:nvSpPr>
          <p:cNvPr id="16" name="Shape 14"/>
          <p:cNvSpPr/>
          <p:nvPr/>
        </p:nvSpPr>
        <p:spPr>
          <a:xfrm>
            <a:off x="274320" y="3730752"/>
            <a:ext cx="1828800" cy="411480"/>
          </a:xfrm>
          <a:prstGeom prst="roundRect">
            <a:avLst>
              <a:gd name="adj" fmla="val 17778"/>
            </a:avLst>
          </a:prstGeom>
          <a:solidFill>
            <a:srgbClr val="FFF9DB"/>
          </a:solidFill>
          <a:ln w="12700">
            <a:solidFill>
              <a:srgbClr val="E8590C"/>
            </a:solidFill>
            <a:prstDash val="solid"/>
          </a:ln>
        </p:spPr>
        <p:txBody>
          <a:bodyPr/>
          <a:lstStyle/>
          <a:p>
            <a:endParaRPr lang="en-US"/>
          </a:p>
        </p:txBody>
      </p:sp>
      <p:sp>
        <p:nvSpPr>
          <p:cNvPr id="17" name="Text 15"/>
          <p:cNvSpPr/>
          <p:nvPr/>
        </p:nvSpPr>
        <p:spPr>
          <a:xfrm>
            <a:off x="274320" y="3730752"/>
            <a:ext cx="1828800" cy="411480"/>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Model + Tools</a:t>
            </a:r>
            <a:endParaRPr lang="en-US" sz="900" dirty="0"/>
          </a:p>
        </p:txBody>
      </p:sp>
      <p:sp>
        <p:nvSpPr>
          <p:cNvPr id="18" name="Shape 16"/>
          <p:cNvSpPr/>
          <p:nvPr/>
        </p:nvSpPr>
        <p:spPr>
          <a:xfrm>
            <a:off x="1188720" y="3611880"/>
            <a:ext cx="0" cy="118872"/>
          </a:xfrm>
          <a:prstGeom prst="line">
            <a:avLst/>
          </a:prstGeom>
          <a:noFill/>
          <a:ln w="12700">
            <a:solidFill>
              <a:srgbClr val="868E96"/>
            </a:solidFill>
            <a:prstDash val="solid"/>
          </a:ln>
        </p:spPr>
        <p:txBody>
          <a:bodyPr/>
          <a:lstStyle/>
          <a:p>
            <a:endParaRPr lang="en-US"/>
          </a:p>
        </p:txBody>
      </p:sp>
      <p:sp>
        <p:nvSpPr>
          <p:cNvPr id="19" name="Shape 17"/>
          <p:cNvSpPr/>
          <p:nvPr/>
        </p:nvSpPr>
        <p:spPr>
          <a:xfrm>
            <a:off x="3337560" y="2514600"/>
            <a:ext cx="0" cy="320040"/>
          </a:xfrm>
          <a:prstGeom prst="line">
            <a:avLst/>
          </a:prstGeom>
          <a:noFill/>
          <a:ln w="19050">
            <a:solidFill>
              <a:srgbClr val="868E96"/>
            </a:solidFill>
            <a:prstDash val="solid"/>
          </a:ln>
        </p:spPr>
        <p:txBody>
          <a:bodyPr/>
          <a:lstStyle/>
          <a:p>
            <a:endParaRPr lang="en-US"/>
          </a:p>
        </p:txBody>
      </p:sp>
      <p:sp>
        <p:nvSpPr>
          <p:cNvPr id="20" name="Shape 18"/>
          <p:cNvSpPr/>
          <p:nvPr/>
        </p:nvSpPr>
        <p:spPr>
          <a:xfrm>
            <a:off x="2331720" y="2834640"/>
            <a:ext cx="2011680" cy="777240"/>
          </a:xfrm>
          <a:prstGeom prst="roundRect">
            <a:avLst>
              <a:gd name="adj" fmla="val 11765"/>
            </a:avLst>
          </a:prstGeom>
          <a:solidFill>
            <a:srgbClr val="B2F2BB"/>
          </a:solidFill>
          <a:ln w="25400">
            <a:solidFill>
              <a:srgbClr val="2F9E44"/>
            </a:solidFill>
            <a:prstDash val="solid"/>
          </a:ln>
          <a:effectLst>
            <a:outerShdw blurRad="50800" dist="25400" dir="2700000" algn="bl" rotWithShape="0">
              <a:srgbClr val="000000">
                <a:alpha val="13000"/>
              </a:srgbClr>
            </a:outerShdw>
          </a:effectLst>
        </p:spPr>
        <p:txBody>
          <a:bodyPr/>
          <a:lstStyle/>
          <a:p>
            <a:endParaRPr lang="en-US"/>
          </a:p>
        </p:txBody>
      </p:sp>
      <p:sp>
        <p:nvSpPr>
          <p:cNvPr id="21" name="Text 19"/>
          <p:cNvSpPr/>
          <p:nvPr/>
        </p:nvSpPr>
        <p:spPr>
          <a:xfrm>
            <a:off x="2331720" y="2834640"/>
            <a:ext cx="2011680" cy="777240"/>
          </a:xfrm>
          <a:prstGeom prst="rect">
            <a:avLst/>
          </a:prstGeom>
          <a:noFill/>
          <a:ln/>
        </p:spPr>
        <p:txBody>
          <a:bodyPr wrap="square" lIns="0" tIns="0" rIns="0" bIns="0" rtlCol="0" anchor="ctr"/>
          <a:lstStyle/>
          <a:p>
            <a:pPr marL="0" indent="0" algn="ctr">
              <a:buNone/>
            </a:pPr>
            <a:r>
              <a:rPr lang="en-US" sz="1300" b="1" dirty="0">
                <a:solidFill>
                  <a:srgbClr val="343A40"/>
                </a:solidFill>
                <a:latin typeface="Calibri" pitchFamily="34" charset="0"/>
                <a:ea typeface="Calibri" pitchFamily="34" charset="-122"/>
                <a:cs typeface="Calibri" pitchFamily="34" charset="-120"/>
              </a:rPr>
              <a:t>Code</a:t>
            </a:r>
            <a:endParaRPr lang="en-US" sz="1300" dirty="0"/>
          </a:p>
          <a:p>
            <a:pPr marL="0" indent="0" algn="ctr">
              <a:buNone/>
            </a:pPr>
            <a:r>
              <a:rPr lang="en-US" sz="1300" b="1" dirty="0">
                <a:solidFill>
                  <a:srgbClr val="343A40"/>
                </a:solidFill>
                <a:latin typeface="Calibri" pitchFamily="34" charset="0"/>
                <a:ea typeface="Calibri" pitchFamily="34" charset="-122"/>
                <a:cs typeface="Calibri" pitchFamily="34" charset="-120"/>
              </a:rPr>
              <a:t>Agent</a:t>
            </a:r>
            <a:endParaRPr lang="en-US" sz="1300" dirty="0"/>
          </a:p>
        </p:txBody>
      </p:sp>
      <p:sp>
        <p:nvSpPr>
          <p:cNvPr id="22" name="Shape 20"/>
          <p:cNvSpPr/>
          <p:nvPr/>
        </p:nvSpPr>
        <p:spPr>
          <a:xfrm>
            <a:off x="2423160" y="3730752"/>
            <a:ext cx="1828800" cy="411480"/>
          </a:xfrm>
          <a:prstGeom prst="roundRect">
            <a:avLst>
              <a:gd name="adj" fmla="val 17778"/>
            </a:avLst>
          </a:prstGeom>
          <a:solidFill>
            <a:srgbClr val="FFF9DB"/>
          </a:solidFill>
          <a:ln w="12700">
            <a:solidFill>
              <a:srgbClr val="E8590C"/>
            </a:solidFill>
            <a:prstDash val="solid"/>
          </a:ln>
        </p:spPr>
        <p:txBody>
          <a:bodyPr/>
          <a:lstStyle/>
          <a:p>
            <a:endParaRPr lang="en-US"/>
          </a:p>
        </p:txBody>
      </p:sp>
      <p:sp>
        <p:nvSpPr>
          <p:cNvPr id="23" name="Text 21"/>
          <p:cNvSpPr/>
          <p:nvPr/>
        </p:nvSpPr>
        <p:spPr>
          <a:xfrm>
            <a:off x="2423160" y="3730752"/>
            <a:ext cx="1828800" cy="411480"/>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Model + Tools</a:t>
            </a:r>
            <a:endParaRPr lang="en-US" sz="900" dirty="0"/>
          </a:p>
        </p:txBody>
      </p:sp>
      <p:sp>
        <p:nvSpPr>
          <p:cNvPr id="24" name="Shape 22"/>
          <p:cNvSpPr/>
          <p:nvPr/>
        </p:nvSpPr>
        <p:spPr>
          <a:xfrm>
            <a:off x="3337560" y="3611880"/>
            <a:ext cx="0" cy="118872"/>
          </a:xfrm>
          <a:prstGeom prst="line">
            <a:avLst/>
          </a:prstGeom>
          <a:noFill/>
          <a:ln w="12700">
            <a:solidFill>
              <a:srgbClr val="868E96"/>
            </a:solidFill>
            <a:prstDash val="solid"/>
          </a:ln>
        </p:spPr>
        <p:txBody>
          <a:bodyPr/>
          <a:lstStyle/>
          <a:p>
            <a:endParaRPr lang="en-US"/>
          </a:p>
        </p:txBody>
      </p:sp>
      <p:sp>
        <p:nvSpPr>
          <p:cNvPr id="25" name="Shape 23"/>
          <p:cNvSpPr/>
          <p:nvPr/>
        </p:nvSpPr>
        <p:spPr>
          <a:xfrm>
            <a:off x="5486400" y="2514600"/>
            <a:ext cx="0" cy="320040"/>
          </a:xfrm>
          <a:prstGeom prst="line">
            <a:avLst/>
          </a:prstGeom>
          <a:noFill/>
          <a:ln w="19050">
            <a:solidFill>
              <a:srgbClr val="868E96"/>
            </a:solidFill>
            <a:prstDash val="solid"/>
          </a:ln>
        </p:spPr>
        <p:txBody>
          <a:bodyPr/>
          <a:lstStyle/>
          <a:p>
            <a:endParaRPr lang="en-US"/>
          </a:p>
        </p:txBody>
      </p:sp>
      <p:sp>
        <p:nvSpPr>
          <p:cNvPr id="26" name="Shape 24"/>
          <p:cNvSpPr/>
          <p:nvPr/>
        </p:nvSpPr>
        <p:spPr>
          <a:xfrm>
            <a:off x="4480560" y="2834640"/>
            <a:ext cx="2011680" cy="777240"/>
          </a:xfrm>
          <a:prstGeom prst="roundRect">
            <a:avLst>
              <a:gd name="adj" fmla="val 11765"/>
            </a:avLst>
          </a:prstGeom>
          <a:solidFill>
            <a:srgbClr val="E5DBFF"/>
          </a:solidFill>
          <a:ln w="25400">
            <a:solidFill>
              <a:srgbClr val="5F3DC4"/>
            </a:solidFill>
            <a:prstDash val="solid"/>
          </a:ln>
          <a:effectLst>
            <a:outerShdw blurRad="50800" dist="25400" dir="2700000" algn="bl" rotWithShape="0">
              <a:srgbClr val="000000">
                <a:alpha val="13000"/>
              </a:srgbClr>
            </a:outerShdw>
          </a:effectLst>
        </p:spPr>
        <p:txBody>
          <a:bodyPr/>
          <a:lstStyle/>
          <a:p>
            <a:endParaRPr lang="en-US"/>
          </a:p>
        </p:txBody>
      </p:sp>
      <p:sp>
        <p:nvSpPr>
          <p:cNvPr id="27" name="Text 25"/>
          <p:cNvSpPr/>
          <p:nvPr/>
        </p:nvSpPr>
        <p:spPr>
          <a:xfrm>
            <a:off x="4480560" y="2834640"/>
            <a:ext cx="2011680" cy="777240"/>
          </a:xfrm>
          <a:prstGeom prst="rect">
            <a:avLst/>
          </a:prstGeom>
          <a:noFill/>
          <a:ln/>
        </p:spPr>
        <p:txBody>
          <a:bodyPr wrap="square" lIns="0" tIns="0" rIns="0" bIns="0" rtlCol="0" anchor="ctr"/>
          <a:lstStyle/>
          <a:p>
            <a:pPr marL="0" indent="0" algn="ctr">
              <a:buNone/>
            </a:pPr>
            <a:r>
              <a:rPr lang="en-US" sz="1300" b="1" dirty="0">
                <a:solidFill>
                  <a:srgbClr val="343A40"/>
                </a:solidFill>
                <a:latin typeface="Calibri" pitchFamily="34" charset="0"/>
                <a:ea typeface="Calibri" pitchFamily="34" charset="-122"/>
                <a:cs typeface="Calibri" pitchFamily="34" charset="-120"/>
              </a:rPr>
              <a:t>Data</a:t>
            </a:r>
            <a:endParaRPr lang="en-US" sz="1300" dirty="0"/>
          </a:p>
          <a:p>
            <a:pPr marL="0" indent="0" algn="ctr">
              <a:buNone/>
            </a:pPr>
            <a:r>
              <a:rPr lang="en-US" sz="1300" b="1" dirty="0">
                <a:solidFill>
                  <a:srgbClr val="343A40"/>
                </a:solidFill>
                <a:latin typeface="Calibri" pitchFamily="34" charset="0"/>
                <a:ea typeface="Calibri" pitchFamily="34" charset="-122"/>
                <a:cs typeface="Calibri" pitchFamily="34" charset="-120"/>
              </a:rPr>
              <a:t>Agent</a:t>
            </a:r>
            <a:endParaRPr lang="en-US" sz="1300" dirty="0"/>
          </a:p>
        </p:txBody>
      </p:sp>
      <p:sp>
        <p:nvSpPr>
          <p:cNvPr id="28" name="Shape 26"/>
          <p:cNvSpPr/>
          <p:nvPr/>
        </p:nvSpPr>
        <p:spPr>
          <a:xfrm>
            <a:off x="4572000" y="3730752"/>
            <a:ext cx="1828800" cy="411480"/>
          </a:xfrm>
          <a:prstGeom prst="roundRect">
            <a:avLst>
              <a:gd name="adj" fmla="val 17778"/>
            </a:avLst>
          </a:prstGeom>
          <a:solidFill>
            <a:srgbClr val="FFF9DB"/>
          </a:solidFill>
          <a:ln w="12700">
            <a:solidFill>
              <a:srgbClr val="E8590C"/>
            </a:solidFill>
            <a:prstDash val="solid"/>
          </a:ln>
        </p:spPr>
        <p:txBody>
          <a:bodyPr/>
          <a:lstStyle/>
          <a:p>
            <a:endParaRPr lang="en-US"/>
          </a:p>
        </p:txBody>
      </p:sp>
      <p:sp>
        <p:nvSpPr>
          <p:cNvPr id="29" name="Text 27"/>
          <p:cNvSpPr/>
          <p:nvPr/>
        </p:nvSpPr>
        <p:spPr>
          <a:xfrm>
            <a:off x="4572000" y="3730752"/>
            <a:ext cx="1828800" cy="411480"/>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Model + Tools</a:t>
            </a:r>
            <a:endParaRPr lang="en-US" sz="900" dirty="0"/>
          </a:p>
        </p:txBody>
      </p:sp>
      <p:sp>
        <p:nvSpPr>
          <p:cNvPr id="30" name="Shape 28"/>
          <p:cNvSpPr/>
          <p:nvPr/>
        </p:nvSpPr>
        <p:spPr>
          <a:xfrm>
            <a:off x="5486400" y="3611880"/>
            <a:ext cx="0" cy="118872"/>
          </a:xfrm>
          <a:prstGeom prst="line">
            <a:avLst/>
          </a:prstGeom>
          <a:noFill/>
          <a:ln w="12700">
            <a:solidFill>
              <a:srgbClr val="868E96"/>
            </a:solidFill>
            <a:prstDash val="solid"/>
          </a:ln>
        </p:spPr>
        <p:txBody>
          <a:bodyPr/>
          <a:lstStyle/>
          <a:p>
            <a:endParaRPr lang="en-US"/>
          </a:p>
        </p:txBody>
      </p:sp>
      <p:sp>
        <p:nvSpPr>
          <p:cNvPr id="31" name="Shape 29"/>
          <p:cNvSpPr/>
          <p:nvPr/>
        </p:nvSpPr>
        <p:spPr>
          <a:xfrm>
            <a:off x="7635240" y="2514600"/>
            <a:ext cx="0" cy="320040"/>
          </a:xfrm>
          <a:prstGeom prst="line">
            <a:avLst/>
          </a:prstGeom>
          <a:noFill/>
          <a:ln w="19050">
            <a:solidFill>
              <a:srgbClr val="868E96"/>
            </a:solidFill>
            <a:prstDash val="solid"/>
          </a:ln>
        </p:spPr>
        <p:txBody>
          <a:bodyPr/>
          <a:lstStyle/>
          <a:p>
            <a:endParaRPr lang="en-US"/>
          </a:p>
        </p:txBody>
      </p:sp>
      <p:sp>
        <p:nvSpPr>
          <p:cNvPr id="32" name="Shape 30"/>
          <p:cNvSpPr/>
          <p:nvPr/>
        </p:nvSpPr>
        <p:spPr>
          <a:xfrm>
            <a:off x="6629400" y="2834640"/>
            <a:ext cx="2011680" cy="777240"/>
          </a:xfrm>
          <a:prstGeom prst="roundRect">
            <a:avLst>
              <a:gd name="adj" fmla="val 11765"/>
            </a:avLst>
          </a:prstGeom>
          <a:solidFill>
            <a:srgbClr val="C3FAE8"/>
          </a:solidFill>
          <a:ln w="25400">
            <a:solidFill>
              <a:srgbClr val="0B7285"/>
            </a:solidFill>
            <a:prstDash val="solid"/>
          </a:ln>
          <a:effectLst>
            <a:outerShdw blurRad="50800" dist="25400" dir="2700000" algn="bl" rotWithShape="0">
              <a:srgbClr val="000000">
                <a:alpha val="13000"/>
              </a:srgbClr>
            </a:outerShdw>
          </a:effectLst>
        </p:spPr>
        <p:txBody>
          <a:bodyPr/>
          <a:lstStyle/>
          <a:p>
            <a:endParaRPr lang="en-US"/>
          </a:p>
        </p:txBody>
      </p:sp>
      <p:sp>
        <p:nvSpPr>
          <p:cNvPr id="33" name="Text 31"/>
          <p:cNvSpPr/>
          <p:nvPr/>
        </p:nvSpPr>
        <p:spPr>
          <a:xfrm>
            <a:off x="6629400" y="2834640"/>
            <a:ext cx="2011680" cy="777240"/>
          </a:xfrm>
          <a:prstGeom prst="rect">
            <a:avLst/>
          </a:prstGeom>
          <a:noFill/>
          <a:ln/>
        </p:spPr>
        <p:txBody>
          <a:bodyPr wrap="square" lIns="0" tIns="0" rIns="0" bIns="0" rtlCol="0" anchor="ctr"/>
          <a:lstStyle/>
          <a:p>
            <a:pPr marL="0" indent="0" algn="ctr">
              <a:buNone/>
            </a:pPr>
            <a:r>
              <a:rPr lang="en-US" sz="1300" b="1" dirty="0">
                <a:solidFill>
                  <a:srgbClr val="343A40"/>
                </a:solidFill>
                <a:latin typeface="Calibri" pitchFamily="34" charset="0"/>
                <a:ea typeface="Calibri" pitchFamily="34" charset="-122"/>
                <a:cs typeface="Calibri" pitchFamily="34" charset="-120"/>
              </a:rPr>
              <a:t>Comms</a:t>
            </a:r>
            <a:endParaRPr lang="en-US" sz="1300" dirty="0"/>
          </a:p>
          <a:p>
            <a:pPr marL="0" indent="0" algn="ctr">
              <a:buNone/>
            </a:pPr>
            <a:r>
              <a:rPr lang="en-US" sz="1300" b="1" dirty="0">
                <a:solidFill>
                  <a:srgbClr val="343A40"/>
                </a:solidFill>
                <a:latin typeface="Calibri" pitchFamily="34" charset="0"/>
                <a:ea typeface="Calibri" pitchFamily="34" charset="-122"/>
                <a:cs typeface="Calibri" pitchFamily="34" charset="-120"/>
              </a:rPr>
              <a:t>Agent</a:t>
            </a:r>
            <a:endParaRPr lang="en-US" sz="1300" dirty="0"/>
          </a:p>
        </p:txBody>
      </p:sp>
      <p:sp>
        <p:nvSpPr>
          <p:cNvPr id="34" name="Shape 32"/>
          <p:cNvSpPr/>
          <p:nvPr/>
        </p:nvSpPr>
        <p:spPr>
          <a:xfrm>
            <a:off x="6720840" y="3730752"/>
            <a:ext cx="1828800" cy="411480"/>
          </a:xfrm>
          <a:prstGeom prst="roundRect">
            <a:avLst>
              <a:gd name="adj" fmla="val 17778"/>
            </a:avLst>
          </a:prstGeom>
          <a:solidFill>
            <a:srgbClr val="FFF9DB"/>
          </a:solidFill>
          <a:ln w="12700">
            <a:solidFill>
              <a:srgbClr val="E8590C"/>
            </a:solidFill>
            <a:prstDash val="solid"/>
          </a:ln>
        </p:spPr>
        <p:txBody>
          <a:bodyPr/>
          <a:lstStyle/>
          <a:p>
            <a:endParaRPr lang="en-US"/>
          </a:p>
        </p:txBody>
      </p:sp>
      <p:sp>
        <p:nvSpPr>
          <p:cNvPr id="35" name="Text 33"/>
          <p:cNvSpPr/>
          <p:nvPr/>
        </p:nvSpPr>
        <p:spPr>
          <a:xfrm>
            <a:off x="6720840" y="3730752"/>
            <a:ext cx="1828800" cy="411480"/>
          </a:xfrm>
          <a:prstGeom prst="rect">
            <a:avLst/>
          </a:prstGeom>
          <a:noFill/>
          <a:ln/>
        </p:spPr>
        <p:txBody>
          <a:bodyPr wrap="square" lIns="0" tIns="0" rIns="0" bIns="0" rtlCol="0" anchor="ctr"/>
          <a:lstStyle/>
          <a:p>
            <a:pPr marL="0" indent="0" algn="ctr">
              <a:buNone/>
            </a:pPr>
            <a:r>
              <a:rPr lang="en-US" sz="900" dirty="0">
                <a:solidFill>
                  <a:srgbClr val="E67700"/>
                </a:solidFill>
                <a:latin typeface="Calibri" pitchFamily="34" charset="0"/>
                <a:ea typeface="Calibri" pitchFamily="34" charset="-122"/>
                <a:cs typeface="Calibri" pitchFamily="34" charset="-120"/>
              </a:rPr>
              <a:t>Model + Tools</a:t>
            </a:r>
            <a:endParaRPr lang="en-US" sz="900" dirty="0"/>
          </a:p>
        </p:txBody>
      </p:sp>
      <p:sp>
        <p:nvSpPr>
          <p:cNvPr id="36" name="Shape 34"/>
          <p:cNvSpPr/>
          <p:nvPr/>
        </p:nvSpPr>
        <p:spPr>
          <a:xfrm>
            <a:off x="7635240" y="3611880"/>
            <a:ext cx="0" cy="118872"/>
          </a:xfrm>
          <a:prstGeom prst="line">
            <a:avLst/>
          </a:prstGeom>
          <a:noFill/>
          <a:ln w="12700">
            <a:solidFill>
              <a:srgbClr val="868E96"/>
            </a:solidFill>
            <a:prstDash val="solid"/>
          </a:ln>
        </p:spPr>
        <p:txBody>
          <a:bodyPr/>
          <a:lstStyle/>
          <a:p>
            <a:endParaRPr lang="en-US"/>
          </a:p>
        </p:txBody>
      </p:sp>
      <p:sp>
        <p:nvSpPr>
          <p:cNvPr id="37" name="Shape 35"/>
          <p:cNvSpPr/>
          <p:nvPr/>
        </p:nvSpPr>
        <p:spPr>
          <a:xfrm>
            <a:off x="182880" y="4270248"/>
            <a:ext cx="8778240" cy="594360"/>
          </a:xfrm>
          <a:prstGeom prst="roundRect">
            <a:avLst>
              <a:gd name="adj" fmla="val 12308"/>
            </a:avLst>
          </a:prstGeom>
          <a:solidFill>
            <a:srgbClr val="FFF3BF"/>
          </a:solidFill>
          <a:ln w="25400">
            <a:solidFill>
              <a:srgbClr val="E8590C"/>
            </a:solidFill>
            <a:prstDash val="solid"/>
          </a:ln>
        </p:spPr>
        <p:txBody>
          <a:bodyPr/>
          <a:lstStyle/>
          <a:p>
            <a:endParaRPr lang="en-US"/>
          </a:p>
        </p:txBody>
      </p:sp>
      <p:sp>
        <p:nvSpPr>
          <p:cNvPr id="38" name="Text 36"/>
          <p:cNvSpPr/>
          <p:nvPr/>
        </p:nvSpPr>
        <p:spPr>
          <a:xfrm>
            <a:off x="182880" y="4270248"/>
            <a:ext cx="8778240" cy="594360"/>
          </a:xfrm>
          <a:prstGeom prst="rect">
            <a:avLst/>
          </a:prstGeom>
          <a:noFill/>
          <a:ln/>
        </p:spPr>
        <p:txBody>
          <a:bodyPr wrap="square" lIns="0" tIns="0" rIns="0" bIns="0" rtlCol="0" anchor="ctr"/>
          <a:lstStyle/>
          <a:p>
            <a:pPr marL="0" indent="0" algn="ctr">
              <a:buNone/>
            </a:pPr>
            <a:r>
              <a:rPr lang="en-US" sz="1100" dirty="0">
                <a:solidFill>
                  <a:srgbClr val="E67700"/>
                </a:solidFill>
                <a:latin typeface="Calibri" pitchFamily="34" charset="0"/>
                <a:ea typeface="Calibri" pitchFamily="34" charset="-122"/>
                <a:cs typeface="Calibri" pitchFamily="34" charset="-120"/>
              </a:rPr>
              <a:t>Shared Long-term Memory  (all agents can read/write — session history, tool outputs, embeddings)</a:t>
            </a:r>
            <a:endParaRPr lang="en-US" sz="1100" dirty="0"/>
          </a:p>
        </p:txBody>
      </p:sp>
      <p:sp>
        <p:nvSpPr>
          <p:cNvPr id="39" name="Shape 37"/>
          <p:cNvSpPr/>
          <p:nvPr/>
        </p:nvSpPr>
        <p:spPr>
          <a:xfrm>
            <a:off x="1188720" y="4142232"/>
            <a:ext cx="0" cy="128016"/>
          </a:xfrm>
          <a:prstGeom prst="line">
            <a:avLst/>
          </a:prstGeom>
          <a:noFill/>
          <a:ln w="12700">
            <a:solidFill>
              <a:srgbClr val="E8590C"/>
            </a:solidFill>
            <a:prstDash val="solid"/>
          </a:ln>
        </p:spPr>
        <p:txBody>
          <a:bodyPr/>
          <a:lstStyle/>
          <a:p>
            <a:endParaRPr lang="en-US"/>
          </a:p>
        </p:txBody>
      </p:sp>
      <p:sp>
        <p:nvSpPr>
          <p:cNvPr id="40" name="Shape 38"/>
          <p:cNvSpPr/>
          <p:nvPr/>
        </p:nvSpPr>
        <p:spPr>
          <a:xfrm>
            <a:off x="3337560" y="4142232"/>
            <a:ext cx="0" cy="128016"/>
          </a:xfrm>
          <a:prstGeom prst="line">
            <a:avLst/>
          </a:prstGeom>
          <a:noFill/>
          <a:ln w="12700">
            <a:solidFill>
              <a:srgbClr val="E8590C"/>
            </a:solidFill>
            <a:prstDash val="solid"/>
          </a:ln>
        </p:spPr>
        <p:txBody>
          <a:bodyPr/>
          <a:lstStyle/>
          <a:p>
            <a:endParaRPr lang="en-US"/>
          </a:p>
        </p:txBody>
      </p:sp>
      <p:sp>
        <p:nvSpPr>
          <p:cNvPr id="41" name="Shape 39"/>
          <p:cNvSpPr/>
          <p:nvPr/>
        </p:nvSpPr>
        <p:spPr>
          <a:xfrm>
            <a:off x="5486400" y="4142232"/>
            <a:ext cx="0" cy="128016"/>
          </a:xfrm>
          <a:prstGeom prst="line">
            <a:avLst/>
          </a:prstGeom>
          <a:noFill/>
          <a:ln w="12700">
            <a:solidFill>
              <a:srgbClr val="E8590C"/>
            </a:solidFill>
            <a:prstDash val="solid"/>
          </a:ln>
        </p:spPr>
        <p:txBody>
          <a:bodyPr/>
          <a:lstStyle/>
          <a:p>
            <a:endParaRPr lang="en-US"/>
          </a:p>
        </p:txBody>
      </p:sp>
      <p:sp>
        <p:nvSpPr>
          <p:cNvPr id="42" name="Shape 40"/>
          <p:cNvSpPr/>
          <p:nvPr/>
        </p:nvSpPr>
        <p:spPr>
          <a:xfrm>
            <a:off x="7635240" y="4142232"/>
            <a:ext cx="0" cy="128016"/>
          </a:xfrm>
          <a:prstGeom prst="line">
            <a:avLst/>
          </a:prstGeom>
          <a:noFill/>
          <a:ln w="12700">
            <a:solidFill>
              <a:srgbClr val="E8590C"/>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5F5"/>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700" b="1" dirty="0">
                <a:solidFill>
                  <a:srgbClr val="C92A2A"/>
                </a:solidFill>
                <a:latin typeface="Calibri" pitchFamily="34" charset="0"/>
                <a:ea typeface="Calibri" pitchFamily="34" charset="-122"/>
                <a:cs typeface="Calibri" pitchFamily="34" charset="-120"/>
              </a:rPr>
              <a:t>Where Things Break: 8 Failure Surfaces</a:t>
            </a:r>
            <a:endParaRPr lang="en-US" sz="2700" dirty="0"/>
          </a:p>
        </p:txBody>
      </p:sp>
      <p:sp>
        <p:nvSpPr>
          <p:cNvPr id="3" name="Text 1"/>
          <p:cNvSpPr/>
          <p:nvPr/>
        </p:nvSpPr>
        <p:spPr>
          <a:xfrm>
            <a:off x="365760" y="566928"/>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Every hop in the agentic loop is a potential point of failure</a:t>
            </a:r>
            <a:endParaRPr lang="en-US" sz="1300" dirty="0"/>
          </a:p>
        </p:txBody>
      </p:sp>
      <p:sp>
        <p:nvSpPr>
          <p:cNvPr id="4" name="Shape 2"/>
          <p:cNvSpPr/>
          <p:nvPr/>
        </p:nvSpPr>
        <p:spPr>
          <a:xfrm>
            <a:off x="274320" y="914400"/>
            <a:ext cx="8595360" cy="347472"/>
          </a:xfrm>
          <a:prstGeom prst="roundRect">
            <a:avLst>
              <a:gd name="adj" fmla="val 13158"/>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301752" y="914400"/>
            <a:ext cx="274320" cy="347472"/>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6" name="Text 4"/>
          <p:cNvSpPr/>
          <p:nvPr/>
        </p:nvSpPr>
        <p:spPr>
          <a:xfrm>
            <a:off x="640080" y="914400"/>
            <a:ext cx="1554480" cy="347472"/>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Failure Zone</a:t>
            </a:r>
            <a:endParaRPr lang="en-US" sz="1050" dirty="0"/>
          </a:p>
        </p:txBody>
      </p:sp>
      <p:sp>
        <p:nvSpPr>
          <p:cNvPr id="7" name="Text 5"/>
          <p:cNvSpPr/>
          <p:nvPr/>
        </p:nvSpPr>
        <p:spPr>
          <a:xfrm>
            <a:off x="2240280" y="914400"/>
            <a:ext cx="2926080" cy="347472"/>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Root Cause</a:t>
            </a:r>
            <a:endParaRPr lang="en-US" sz="1050" dirty="0"/>
          </a:p>
        </p:txBody>
      </p:sp>
      <p:sp>
        <p:nvSpPr>
          <p:cNvPr id="8" name="Text 6"/>
          <p:cNvSpPr/>
          <p:nvPr/>
        </p:nvSpPr>
        <p:spPr>
          <a:xfrm>
            <a:off x="5212080" y="914400"/>
            <a:ext cx="3657600" cy="347472"/>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Impact</a:t>
            </a:r>
            <a:endParaRPr lang="en-US" sz="1050" dirty="0"/>
          </a:p>
        </p:txBody>
      </p:sp>
      <p:sp>
        <p:nvSpPr>
          <p:cNvPr id="9" name="Shape 7"/>
          <p:cNvSpPr/>
          <p:nvPr/>
        </p:nvSpPr>
        <p:spPr>
          <a:xfrm>
            <a:off x="274320" y="1280160"/>
            <a:ext cx="8595360" cy="438912"/>
          </a:xfrm>
          <a:prstGeom prst="roundRect">
            <a:avLst/>
          </a:prstGeom>
          <a:solidFill>
            <a:srgbClr val="FFFFFF"/>
          </a:solidFill>
          <a:ln w="6350">
            <a:solidFill>
              <a:srgbClr val="CED4DA"/>
            </a:solidFill>
            <a:prstDash val="solid"/>
          </a:ln>
        </p:spPr>
        <p:txBody>
          <a:bodyPr/>
          <a:lstStyle/>
          <a:p>
            <a:endParaRPr lang="en-US"/>
          </a:p>
        </p:txBody>
      </p:sp>
      <p:sp>
        <p:nvSpPr>
          <p:cNvPr id="10" name="Shape 8"/>
          <p:cNvSpPr/>
          <p:nvPr/>
        </p:nvSpPr>
        <p:spPr>
          <a:xfrm>
            <a:off x="320040" y="1335024"/>
            <a:ext cx="310896" cy="310896"/>
          </a:xfrm>
          <a:prstGeom prst="ellipse">
            <a:avLst/>
          </a:prstGeom>
          <a:solidFill>
            <a:srgbClr val="C92A2A"/>
          </a:solidFill>
          <a:ln w="12700">
            <a:solidFill>
              <a:srgbClr val="C92A2A"/>
            </a:solidFill>
            <a:prstDash val="solid"/>
          </a:ln>
        </p:spPr>
        <p:txBody>
          <a:bodyPr/>
          <a:lstStyle/>
          <a:p>
            <a:endParaRPr lang="en-US"/>
          </a:p>
        </p:txBody>
      </p:sp>
      <p:sp>
        <p:nvSpPr>
          <p:cNvPr id="11" name="Text 9"/>
          <p:cNvSpPr/>
          <p:nvPr/>
        </p:nvSpPr>
        <p:spPr>
          <a:xfrm>
            <a:off x="320040" y="13350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①</a:t>
            </a:r>
            <a:endParaRPr lang="en-US" sz="900" dirty="0"/>
          </a:p>
        </p:txBody>
      </p:sp>
      <p:sp>
        <p:nvSpPr>
          <p:cNvPr id="12" name="Text 10"/>
          <p:cNvSpPr/>
          <p:nvPr/>
        </p:nvSpPr>
        <p:spPr>
          <a:xfrm>
            <a:off x="685800" y="12801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Client → Agent</a:t>
            </a:r>
            <a:endParaRPr lang="en-US" sz="1000" dirty="0"/>
          </a:p>
        </p:txBody>
      </p:sp>
      <p:sp>
        <p:nvSpPr>
          <p:cNvPr id="13" name="Text 11"/>
          <p:cNvSpPr/>
          <p:nvPr/>
        </p:nvSpPr>
        <p:spPr>
          <a:xfrm>
            <a:off x="2240280" y="12801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Network timeout / dropped connection</a:t>
            </a:r>
            <a:endParaRPr lang="en-US" sz="950" dirty="0"/>
          </a:p>
        </p:txBody>
      </p:sp>
      <p:sp>
        <p:nvSpPr>
          <p:cNvPr id="14" name="Text 12"/>
          <p:cNvSpPr/>
          <p:nvPr/>
        </p:nvSpPr>
        <p:spPr>
          <a:xfrm>
            <a:off x="5212080" y="12801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Request lost, no response returned</a:t>
            </a:r>
            <a:endParaRPr lang="en-US" sz="950" dirty="0"/>
          </a:p>
        </p:txBody>
      </p:sp>
      <p:sp>
        <p:nvSpPr>
          <p:cNvPr id="15" name="Shape 13"/>
          <p:cNvSpPr/>
          <p:nvPr/>
        </p:nvSpPr>
        <p:spPr>
          <a:xfrm>
            <a:off x="274320" y="1737360"/>
            <a:ext cx="8595360" cy="438912"/>
          </a:xfrm>
          <a:prstGeom prst="roundRect">
            <a:avLst/>
          </a:prstGeom>
          <a:solidFill>
            <a:srgbClr val="F8F9FA"/>
          </a:solidFill>
          <a:ln w="6350">
            <a:solidFill>
              <a:srgbClr val="CED4DA"/>
            </a:solidFill>
            <a:prstDash val="solid"/>
          </a:ln>
        </p:spPr>
        <p:txBody>
          <a:bodyPr/>
          <a:lstStyle/>
          <a:p>
            <a:endParaRPr lang="en-US"/>
          </a:p>
        </p:txBody>
      </p:sp>
      <p:sp>
        <p:nvSpPr>
          <p:cNvPr id="16" name="Shape 14"/>
          <p:cNvSpPr/>
          <p:nvPr/>
        </p:nvSpPr>
        <p:spPr>
          <a:xfrm>
            <a:off x="320040" y="1792224"/>
            <a:ext cx="310896" cy="310896"/>
          </a:xfrm>
          <a:prstGeom prst="ellipse">
            <a:avLst/>
          </a:prstGeom>
          <a:solidFill>
            <a:srgbClr val="C92A2A"/>
          </a:solidFill>
          <a:ln w="12700">
            <a:solidFill>
              <a:srgbClr val="C92A2A"/>
            </a:solidFill>
            <a:prstDash val="solid"/>
          </a:ln>
        </p:spPr>
        <p:txBody>
          <a:bodyPr/>
          <a:lstStyle/>
          <a:p>
            <a:endParaRPr lang="en-US"/>
          </a:p>
        </p:txBody>
      </p:sp>
      <p:sp>
        <p:nvSpPr>
          <p:cNvPr id="17" name="Text 15"/>
          <p:cNvSpPr/>
          <p:nvPr/>
        </p:nvSpPr>
        <p:spPr>
          <a:xfrm>
            <a:off x="320040" y="17922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②</a:t>
            </a:r>
            <a:endParaRPr lang="en-US" sz="900" dirty="0"/>
          </a:p>
        </p:txBody>
      </p:sp>
      <p:sp>
        <p:nvSpPr>
          <p:cNvPr id="18" name="Text 16"/>
          <p:cNvSpPr/>
          <p:nvPr/>
        </p:nvSpPr>
        <p:spPr>
          <a:xfrm>
            <a:off x="685800" y="17373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Context Window</a:t>
            </a:r>
            <a:endParaRPr lang="en-US" sz="1000" dirty="0"/>
          </a:p>
        </p:txBody>
      </p:sp>
      <p:sp>
        <p:nvSpPr>
          <p:cNvPr id="19" name="Text 17"/>
          <p:cNvSpPr/>
          <p:nvPr/>
        </p:nvSpPr>
        <p:spPr>
          <a:xfrm>
            <a:off x="2240280" y="17373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Token limit exceeded (context overflow)</a:t>
            </a:r>
            <a:endParaRPr lang="en-US" sz="950" dirty="0"/>
          </a:p>
        </p:txBody>
      </p:sp>
      <p:sp>
        <p:nvSpPr>
          <p:cNvPr id="20" name="Text 18"/>
          <p:cNvSpPr/>
          <p:nvPr/>
        </p:nvSpPr>
        <p:spPr>
          <a:xfrm>
            <a:off x="5212080" y="17373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Model truncates; loses earlier context</a:t>
            </a:r>
            <a:endParaRPr lang="en-US" sz="950" dirty="0"/>
          </a:p>
        </p:txBody>
      </p:sp>
      <p:sp>
        <p:nvSpPr>
          <p:cNvPr id="21" name="Shape 19"/>
          <p:cNvSpPr/>
          <p:nvPr/>
        </p:nvSpPr>
        <p:spPr>
          <a:xfrm>
            <a:off x="274320" y="2194560"/>
            <a:ext cx="8595360" cy="438912"/>
          </a:xfrm>
          <a:prstGeom prst="roundRect">
            <a:avLst/>
          </a:prstGeom>
          <a:solidFill>
            <a:srgbClr val="FFFFFF"/>
          </a:solidFill>
          <a:ln w="6350">
            <a:solidFill>
              <a:srgbClr val="CED4DA"/>
            </a:solidFill>
            <a:prstDash val="solid"/>
          </a:ln>
        </p:spPr>
        <p:txBody>
          <a:bodyPr/>
          <a:lstStyle/>
          <a:p>
            <a:endParaRPr lang="en-US"/>
          </a:p>
        </p:txBody>
      </p:sp>
      <p:sp>
        <p:nvSpPr>
          <p:cNvPr id="22" name="Shape 20"/>
          <p:cNvSpPr/>
          <p:nvPr/>
        </p:nvSpPr>
        <p:spPr>
          <a:xfrm>
            <a:off x="320040" y="2249424"/>
            <a:ext cx="310896" cy="310896"/>
          </a:xfrm>
          <a:prstGeom prst="ellipse">
            <a:avLst/>
          </a:prstGeom>
          <a:solidFill>
            <a:srgbClr val="C92A2A"/>
          </a:solidFill>
          <a:ln w="12700">
            <a:solidFill>
              <a:srgbClr val="C92A2A"/>
            </a:solidFill>
            <a:prstDash val="solid"/>
          </a:ln>
        </p:spPr>
        <p:txBody>
          <a:bodyPr/>
          <a:lstStyle/>
          <a:p>
            <a:endParaRPr lang="en-US"/>
          </a:p>
        </p:txBody>
      </p:sp>
      <p:sp>
        <p:nvSpPr>
          <p:cNvPr id="23" name="Text 21"/>
          <p:cNvSpPr/>
          <p:nvPr/>
        </p:nvSpPr>
        <p:spPr>
          <a:xfrm>
            <a:off x="320040" y="22494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③</a:t>
            </a:r>
            <a:endParaRPr lang="en-US" sz="900" dirty="0"/>
          </a:p>
        </p:txBody>
      </p:sp>
      <p:sp>
        <p:nvSpPr>
          <p:cNvPr id="24" name="Text 22"/>
          <p:cNvSpPr/>
          <p:nvPr/>
        </p:nvSpPr>
        <p:spPr>
          <a:xfrm>
            <a:off x="685800" y="21945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Agent → Model</a:t>
            </a:r>
            <a:endParaRPr lang="en-US" sz="1000" dirty="0"/>
          </a:p>
        </p:txBody>
      </p:sp>
      <p:sp>
        <p:nvSpPr>
          <p:cNvPr id="25" name="Text 23"/>
          <p:cNvSpPr/>
          <p:nvPr/>
        </p:nvSpPr>
        <p:spPr>
          <a:xfrm>
            <a:off x="2240280" y="21945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Model API timeout, throttle (HTTP 429), or outage</a:t>
            </a:r>
            <a:endParaRPr lang="en-US" sz="950" dirty="0"/>
          </a:p>
        </p:txBody>
      </p:sp>
      <p:sp>
        <p:nvSpPr>
          <p:cNvPr id="26" name="Text 24"/>
          <p:cNvSpPr/>
          <p:nvPr/>
        </p:nvSpPr>
        <p:spPr>
          <a:xfrm>
            <a:off x="5212080" y="21945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Loop stalls; partial or no answer</a:t>
            </a:r>
            <a:endParaRPr lang="en-US" sz="950" dirty="0"/>
          </a:p>
        </p:txBody>
      </p:sp>
      <p:sp>
        <p:nvSpPr>
          <p:cNvPr id="27" name="Shape 25"/>
          <p:cNvSpPr/>
          <p:nvPr/>
        </p:nvSpPr>
        <p:spPr>
          <a:xfrm>
            <a:off x="274320" y="2651760"/>
            <a:ext cx="8595360" cy="438912"/>
          </a:xfrm>
          <a:prstGeom prst="roundRect">
            <a:avLst/>
          </a:prstGeom>
          <a:solidFill>
            <a:srgbClr val="F8F9FA"/>
          </a:solidFill>
          <a:ln w="6350">
            <a:solidFill>
              <a:srgbClr val="CED4DA"/>
            </a:solidFill>
            <a:prstDash val="solid"/>
          </a:ln>
        </p:spPr>
        <p:txBody>
          <a:bodyPr/>
          <a:lstStyle/>
          <a:p>
            <a:endParaRPr lang="en-US"/>
          </a:p>
        </p:txBody>
      </p:sp>
      <p:sp>
        <p:nvSpPr>
          <p:cNvPr id="28" name="Shape 26"/>
          <p:cNvSpPr/>
          <p:nvPr/>
        </p:nvSpPr>
        <p:spPr>
          <a:xfrm>
            <a:off x="320040" y="2706624"/>
            <a:ext cx="310896" cy="310896"/>
          </a:xfrm>
          <a:prstGeom prst="ellipse">
            <a:avLst/>
          </a:prstGeom>
          <a:solidFill>
            <a:srgbClr val="C92A2A"/>
          </a:solidFill>
          <a:ln w="12700">
            <a:solidFill>
              <a:srgbClr val="C92A2A"/>
            </a:solidFill>
            <a:prstDash val="solid"/>
          </a:ln>
        </p:spPr>
        <p:txBody>
          <a:bodyPr/>
          <a:lstStyle/>
          <a:p>
            <a:endParaRPr lang="en-US"/>
          </a:p>
        </p:txBody>
      </p:sp>
      <p:sp>
        <p:nvSpPr>
          <p:cNvPr id="29" name="Text 27"/>
          <p:cNvSpPr/>
          <p:nvPr/>
        </p:nvSpPr>
        <p:spPr>
          <a:xfrm>
            <a:off x="320040" y="27066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④</a:t>
            </a:r>
            <a:endParaRPr lang="en-US" sz="900" dirty="0"/>
          </a:p>
        </p:txBody>
      </p:sp>
      <p:sp>
        <p:nvSpPr>
          <p:cNvPr id="30" name="Text 28"/>
          <p:cNvSpPr/>
          <p:nvPr/>
        </p:nvSpPr>
        <p:spPr>
          <a:xfrm>
            <a:off x="685800" y="26517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Tool Dispatch</a:t>
            </a:r>
            <a:endParaRPr lang="en-US" sz="1000" dirty="0"/>
          </a:p>
        </p:txBody>
      </p:sp>
      <p:sp>
        <p:nvSpPr>
          <p:cNvPr id="31" name="Text 29"/>
          <p:cNvSpPr/>
          <p:nvPr/>
        </p:nvSpPr>
        <p:spPr>
          <a:xfrm>
            <a:off x="2240280" y="26517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Tool call timeout, auth failure, or 5xx error</a:t>
            </a:r>
            <a:endParaRPr lang="en-US" sz="950" dirty="0"/>
          </a:p>
        </p:txBody>
      </p:sp>
      <p:sp>
        <p:nvSpPr>
          <p:cNvPr id="32" name="Text 30"/>
          <p:cNvSpPr/>
          <p:nvPr/>
        </p:nvSpPr>
        <p:spPr>
          <a:xfrm>
            <a:off x="5212080" y="26517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Tool result missing; model reasons incorrectly</a:t>
            </a:r>
            <a:endParaRPr lang="en-US" sz="950" dirty="0"/>
          </a:p>
        </p:txBody>
      </p:sp>
      <p:sp>
        <p:nvSpPr>
          <p:cNvPr id="33" name="Shape 31"/>
          <p:cNvSpPr/>
          <p:nvPr/>
        </p:nvSpPr>
        <p:spPr>
          <a:xfrm>
            <a:off x="274320" y="3108960"/>
            <a:ext cx="8595360" cy="438912"/>
          </a:xfrm>
          <a:prstGeom prst="roundRect">
            <a:avLst/>
          </a:prstGeom>
          <a:solidFill>
            <a:srgbClr val="FFFFFF"/>
          </a:solidFill>
          <a:ln w="6350">
            <a:solidFill>
              <a:srgbClr val="CED4DA"/>
            </a:solidFill>
            <a:prstDash val="solid"/>
          </a:ln>
        </p:spPr>
        <p:txBody>
          <a:bodyPr/>
          <a:lstStyle/>
          <a:p>
            <a:endParaRPr lang="en-US"/>
          </a:p>
        </p:txBody>
      </p:sp>
      <p:sp>
        <p:nvSpPr>
          <p:cNvPr id="34" name="Shape 32"/>
          <p:cNvSpPr/>
          <p:nvPr/>
        </p:nvSpPr>
        <p:spPr>
          <a:xfrm>
            <a:off x="320040" y="3163824"/>
            <a:ext cx="310896" cy="310896"/>
          </a:xfrm>
          <a:prstGeom prst="ellipse">
            <a:avLst/>
          </a:prstGeom>
          <a:solidFill>
            <a:srgbClr val="C92A2A"/>
          </a:solidFill>
          <a:ln w="12700">
            <a:solidFill>
              <a:srgbClr val="C92A2A"/>
            </a:solidFill>
            <a:prstDash val="solid"/>
          </a:ln>
        </p:spPr>
        <p:txBody>
          <a:bodyPr/>
          <a:lstStyle/>
          <a:p>
            <a:endParaRPr lang="en-US"/>
          </a:p>
        </p:txBody>
      </p:sp>
      <p:sp>
        <p:nvSpPr>
          <p:cNvPr id="35" name="Text 33"/>
          <p:cNvSpPr/>
          <p:nvPr/>
        </p:nvSpPr>
        <p:spPr>
          <a:xfrm>
            <a:off x="320040" y="31638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⑤</a:t>
            </a:r>
            <a:endParaRPr lang="en-US" sz="900" dirty="0"/>
          </a:p>
        </p:txBody>
      </p:sp>
      <p:sp>
        <p:nvSpPr>
          <p:cNvPr id="36" name="Text 34"/>
          <p:cNvSpPr/>
          <p:nvPr/>
        </p:nvSpPr>
        <p:spPr>
          <a:xfrm>
            <a:off x="685800" y="31089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Tool → Agent</a:t>
            </a:r>
            <a:endParaRPr lang="en-US" sz="1000" dirty="0"/>
          </a:p>
        </p:txBody>
      </p:sp>
      <p:sp>
        <p:nvSpPr>
          <p:cNvPr id="37" name="Text 35"/>
          <p:cNvSpPr/>
          <p:nvPr/>
        </p:nvSpPr>
        <p:spPr>
          <a:xfrm>
            <a:off x="2240280" y="31089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Network partition or high latency on result return</a:t>
            </a:r>
            <a:endParaRPr lang="en-US" sz="950" dirty="0"/>
          </a:p>
        </p:txBody>
      </p:sp>
      <p:sp>
        <p:nvSpPr>
          <p:cNvPr id="38" name="Text 36"/>
          <p:cNvSpPr/>
          <p:nvPr/>
        </p:nvSpPr>
        <p:spPr>
          <a:xfrm>
            <a:off x="5212080" y="31089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Loop hangs indefinitely without retry</a:t>
            </a:r>
            <a:endParaRPr lang="en-US" sz="950" dirty="0"/>
          </a:p>
        </p:txBody>
      </p:sp>
      <p:sp>
        <p:nvSpPr>
          <p:cNvPr id="39" name="Shape 37"/>
          <p:cNvSpPr/>
          <p:nvPr/>
        </p:nvSpPr>
        <p:spPr>
          <a:xfrm>
            <a:off x="274320" y="3566160"/>
            <a:ext cx="8595360" cy="438912"/>
          </a:xfrm>
          <a:prstGeom prst="roundRect">
            <a:avLst/>
          </a:prstGeom>
          <a:solidFill>
            <a:srgbClr val="F8F9FA"/>
          </a:solidFill>
          <a:ln w="6350">
            <a:solidFill>
              <a:srgbClr val="CED4DA"/>
            </a:solidFill>
            <a:prstDash val="solid"/>
          </a:ln>
        </p:spPr>
        <p:txBody>
          <a:bodyPr/>
          <a:lstStyle/>
          <a:p>
            <a:endParaRPr lang="en-US"/>
          </a:p>
        </p:txBody>
      </p:sp>
      <p:sp>
        <p:nvSpPr>
          <p:cNvPr id="40" name="Shape 38"/>
          <p:cNvSpPr/>
          <p:nvPr/>
        </p:nvSpPr>
        <p:spPr>
          <a:xfrm>
            <a:off x="320040" y="3621024"/>
            <a:ext cx="310896" cy="310896"/>
          </a:xfrm>
          <a:prstGeom prst="ellipse">
            <a:avLst/>
          </a:prstGeom>
          <a:solidFill>
            <a:srgbClr val="C92A2A"/>
          </a:solidFill>
          <a:ln w="12700">
            <a:solidFill>
              <a:srgbClr val="C92A2A"/>
            </a:solidFill>
            <a:prstDash val="solid"/>
          </a:ln>
        </p:spPr>
        <p:txBody>
          <a:bodyPr/>
          <a:lstStyle/>
          <a:p>
            <a:endParaRPr lang="en-US"/>
          </a:p>
        </p:txBody>
      </p:sp>
      <p:sp>
        <p:nvSpPr>
          <p:cNvPr id="41" name="Text 39"/>
          <p:cNvSpPr/>
          <p:nvPr/>
        </p:nvSpPr>
        <p:spPr>
          <a:xfrm>
            <a:off x="320040" y="36210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⑥</a:t>
            </a:r>
            <a:endParaRPr lang="en-US" sz="900" dirty="0"/>
          </a:p>
        </p:txBody>
      </p:sp>
      <p:sp>
        <p:nvSpPr>
          <p:cNvPr id="42" name="Text 40"/>
          <p:cNvSpPr/>
          <p:nvPr/>
        </p:nvSpPr>
        <p:spPr>
          <a:xfrm>
            <a:off x="685800" y="35661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Tool Loop</a:t>
            </a:r>
            <a:endParaRPr lang="en-US" sz="1000" dirty="0"/>
          </a:p>
        </p:txBody>
      </p:sp>
      <p:sp>
        <p:nvSpPr>
          <p:cNvPr id="43" name="Text 41"/>
          <p:cNvSpPr/>
          <p:nvPr/>
        </p:nvSpPr>
        <p:spPr>
          <a:xfrm>
            <a:off x="2240280" y="35661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No stop condition → infinite recursion</a:t>
            </a:r>
            <a:endParaRPr lang="en-US" sz="950" dirty="0"/>
          </a:p>
        </p:txBody>
      </p:sp>
      <p:sp>
        <p:nvSpPr>
          <p:cNvPr id="44" name="Text 42"/>
          <p:cNvSpPr/>
          <p:nvPr/>
        </p:nvSpPr>
        <p:spPr>
          <a:xfrm>
            <a:off x="5212080" y="35661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Runaway cost and compute; no output</a:t>
            </a:r>
            <a:endParaRPr lang="en-US" sz="950" dirty="0"/>
          </a:p>
        </p:txBody>
      </p:sp>
      <p:sp>
        <p:nvSpPr>
          <p:cNvPr id="45" name="Shape 43"/>
          <p:cNvSpPr/>
          <p:nvPr/>
        </p:nvSpPr>
        <p:spPr>
          <a:xfrm>
            <a:off x="274320" y="4023360"/>
            <a:ext cx="8595360" cy="438912"/>
          </a:xfrm>
          <a:prstGeom prst="roundRect">
            <a:avLst/>
          </a:prstGeom>
          <a:solidFill>
            <a:srgbClr val="FFFFFF"/>
          </a:solidFill>
          <a:ln w="6350">
            <a:solidFill>
              <a:srgbClr val="CED4DA"/>
            </a:solidFill>
            <a:prstDash val="solid"/>
          </a:ln>
        </p:spPr>
        <p:txBody>
          <a:bodyPr/>
          <a:lstStyle/>
          <a:p>
            <a:endParaRPr lang="en-US"/>
          </a:p>
        </p:txBody>
      </p:sp>
      <p:sp>
        <p:nvSpPr>
          <p:cNvPr id="46" name="Shape 44"/>
          <p:cNvSpPr/>
          <p:nvPr/>
        </p:nvSpPr>
        <p:spPr>
          <a:xfrm>
            <a:off x="320040" y="4078224"/>
            <a:ext cx="310896" cy="310896"/>
          </a:xfrm>
          <a:prstGeom prst="ellipse">
            <a:avLst/>
          </a:prstGeom>
          <a:solidFill>
            <a:srgbClr val="C92A2A"/>
          </a:solidFill>
          <a:ln w="12700">
            <a:solidFill>
              <a:srgbClr val="C92A2A"/>
            </a:solidFill>
            <a:prstDash val="solid"/>
          </a:ln>
        </p:spPr>
        <p:txBody>
          <a:bodyPr/>
          <a:lstStyle/>
          <a:p>
            <a:endParaRPr lang="en-US"/>
          </a:p>
        </p:txBody>
      </p:sp>
      <p:sp>
        <p:nvSpPr>
          <p:cNvPr id="47" name="Text 45"/>
          <p:cNvSpPr/>
          <p:nvPr/>
        </p:nvSpPr>
        <p:spPr>
          <a:xfrm>
            <a:off x="320040" y="40782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⑦</a:t>
            </a:r>
            <a:endParaRPr lang="en-US" sz="900" dirty="0"/>
          </a:p>
        </p:txBody>
      </p:sp>
      <p:sp>
        <p:nvSpPr>
          <p:cNvPr id="48" name="Text 46"/>
          <p:cNvSpPr/>
          <p:nvPr/>
        </p:nvSpPr>
        <p:spPr>
          <a:xfrm>
            <a:off x="685800" y="40233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Memory Store</a:t>
            </a:r>
            <a:endParaRPr lang="en-US" sz="1000" dirty="0"/>
          </a:p>
        </p:txBody>
      </p:sp>
      <p:sp>
        <p:nvSpPr>
          <p:cNvPr id="49" name="Text 47"/>
          <p:cNvSpPr/>
          <p:nvPr/>
        </p:nvSpPr>
        <p:spPr>
          <a:xfrm>
            <a:off x="2240280" y="40233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DB unavailable / write failure (Cosmos, Search)</a:t>
            </a:r>
            <a:endParaRPr lang="en-US" sz="950" dirty="0"/>
          </a:p>
        </p:txBody>
      </p:sp>
      <p:sp>
        <p:nvSpPr>
          <p:cNvPr id="50" name="Text 48"/>
          <p:cNvSpPr/>
          <p:nvPr/>
        </p:nvSpPr>
        <p:spPr>
          <a:xfrm>
            <a:off x="5212080" y="40233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Context lost across sessions; stale data</a:t>
            </a:r>
            <a:endParaRPr lang="en-US" sz="950" dirty="0"/>
          </a:p>
        </p:txBody>
      </p:sp>
      <p:sp>
        <p:nvSpPr>
          <p:cNvPr id="51" name="Shape 49"/>
          <p:cNvSpPr/>
          <p:nvPr/>
        </p:nvSpPr>
        <p:spPr>
          <a:xfrm>
            <a:off x="274320" y="4480560"/>
            <a:ext cx="8595360" cy="438912"/>
          </a:xfrm>
          <a:prstGeom prst="roundRect">
            <a:avLst/>
          </a:prstGeom>
          <a:solidFill>
            <a:srgbClr val="F8F9FA"/>
          </a:solidFill>
          <a:ln w="6350">
            <a:solidFill>
              <a:srgbClr val="CED4DA"/>
            </a:solidFill>
            <a:prstDash val="solid"/>
          </a:ln>
        </p:spPr>
        <p:txBody>
          <a:bodyPr/>
          <a:lstStyle/>
          <a:p>
            <a:endParaRPr lang="en-US"/>
          </a:p>
        </p:txBody>
      </p:sp>
      <p:sp>
        <p:nvSpPr>
          <p:cNvPr id="52" name="Shape 50"/>
          <p:cNvSpPr/>
          <p:nvPr/>
        </p:nvSpPr>
        <p:spPr>
          <a:xfrm>
            <a:off x="320040" y="4535424"/>
            <a:ext cx="310896" cy="310896"/>
          </a:xfrm>
          <a:prstGeom prst="ellipse">
            <a:avLst/>
          </a:prstGeom>
          <a:solidFill>
            <a:srgbClr val="C92A2A"/>
          </a:solidFill>
          <a:ln w="12700">
            <a:solidFill>
              <a:srgbClr val="C92A2A"/>
            </a:solidFill>
            <a:prstDash val="solid"/>
          </a:ln>
        </p:spPr>
        <p:txBody>
          <a:bodyPr/>
          <a:lstStyle/>
          <a:p>
            <a:endParaRPr lang="en-US"/>
          </a:p>
        </p:txBody>
      </p:sp>
      <p:sp>
        <p:nvSpPr>
          <p:cNvPr id="53" name="Text 51"/>
          <p:cNvSpPr/>
          <p:nvPr/>
        </p:nvSpPr>
        <p:spPr>
          <a:xfrm>
            <a:off x="320040" y="453542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⑧</a:t>
            </a:r>
            <a:endParaRPr lang="en-US" sz="900" dirty="0"/>
          </a:p>
        </p:txBody>
      </p:sp>
      <p:sp>
        <p:nvSpPr>
          <p:cNvPr id="54" name="Text 52"/>
          <p:cNvSpPr/>
          <p:nvPr/>
        </p:nvSpPr>
        <p:spPr>
          <a:xfrm>
            <a:off x="685800" y="4480560"/>
            <a:ext cx="1508760" cy="438912"/>
          </a:xfrm>
          <a:prstGeom prst="rect">
            <a:avLst/>
          </a:prstGeom>
          <a:noFill/>
          <a:ln/>
        </p:spPr>
        <p:txBody>
          <a:bodyPr wrap="square" lIns="50800" tIns="50800" rIns="50800" bIns="50800" rtlCol="0" anchor="ctr"/>
          <a:lstStyle/>
          <a:p>
            <a:pPr marL="0" indent="0">
              <a:buNone/>
            </a:pPr>
            <a:r>
              <a:rPr lang="en-US" sz="1000" b="1" dirty="0">
                <a:solidFill>
                  <a:srgbClr val="343A40"/>
                </a:solidFill>
                <a:latin typeface="Calibri" pitchFamily="34" charset="0"/>
                <a:ea typeface="Calibri" pitchFamily="34" charset="-122"/>
                <a:cs typeface="Calibri" pitchFamily="34" charset="-120"/>
              </a:rPr>
              <a:t>Multi-agent / A2A</a:t>
            </a:r>
            <a:endParaRPr lang="en-US" sz="1000" dirty="0"/>
          </a:p>
        </p:txBody>
      </p:sp>
      <p:sp>
        <p:nvSpPr>
          <p:cNvPr id="55" name="Text 53"/>
          <p:cNvSpPr/>
          <p:nvPr/>
        </p:nvSpPr>
        <p:spPr>
          <a:xfrm>
            <a:off x="2240280" y="4480560"/>
            <a:ext cx="2926080" cy="438912"/>
          </a:xfrm>
          <a:prstGeom prst="rect">
            <a:avLst/>
          </a:prstGeom>
          <a:noFill/>
          <a:ln/>
        </p:spPr>
        <p:txBody>
          <a:bodyPr wrap="square" lIns="50800" tIns="50800" rIns="50800" bIns="508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Sub-agent crash or A2A handoff failure</a:t>
            </a:r>
            <a:endParaRPr lang="en-US" sz="950" dirty="0"/>
          </a:p>
        </p:txBody>
      </p:sp>
      <p:sp>
        <p:nvSpPr>
          <p:cNvPr id="56" name="Text 54"/>
          <p:cNvSpPr/>
          <p:nvPr/>
        </p:nvSpPr>
        <p:spPr>
          <a:xfrm>
            <a:off x="5212080" y="4480560"/>
            <a:ext cx="3611880" cy="438912"/>
          </a:xfrm>
          <a:prstGeom prst="rect">
            <a:avLst/>
          </a:prstGeom>
          <a:noFill/>
          <a:ln/>
        </p:spPr>
        <p:txBody>
          <a:bodyPr wrap="square" lIns="50800" tIns="50800" rIns="50800" bIns="50800" rtlCol="0" anchor="ctr"/>
          <a:lstStyle/>
          <a:p>
            <a:pPr marL="0" indent="0">
              <a:buNone/>
            </a:pPr>
            <a:r>
              <a:rPr lang="en-US" sz="950" i="1" dirty="0">
                <a:solidFill>
                  <a:srgbClr val="C92A2A"/>
                </a:solidFill>
                <a:latin typeface="Calibri" pitchFamily="34" charset="0"/>
                <a:ea typeface="Calibri" pitchFamily="34" charset="-122"/>
                <a:cs typeface="Calibri" pitchFamily="34" charset="-120"/>
              </a:rPr>
              <a:t>Orchestrator stalls; partial work discarded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Microsoft Foundry Agent Service</a:t>
            </a:r>
            <a:endParaRPr lang="en-US" sz="3400" dirty="0"/>
          </a:p>
        </p:txBody>
      </p:sp>
      <p:sp>
        <p:nvSpPr>
          <p:cNvPr id="3" name="Text 1"/>
          <p:cNvSpPr/>
          <p:nvPr/>
        </p:nvSpPr>
        <p:spPr>
          <a:xfrm>
            <a:off x="457200" y="886968"/>
            <a:ext cx="8229600" cy="32004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A managed platform that owns the harness, memory, and resiliency — so you don't have to build it</a:t>
            </a:r>
            <a:endParaRPr lang="en-US" sz="1400" dirty="0"/>
          </a:p>
        </p:txBody>
      </p:sp>
      <p:sp>
        <p:nvSpPr>
          <p:cNvPr id="4" name="Shape 2"/>
          <p:cNvSpPr/>
          <p:nvPr/>
        </p:nvSpPr>
        <p:spPr>
          <a:xfrm>
            <a:off x="320040" y="1325880"/>
            <a:ext cx="2743200" cy="3611880"/>
          </a:xfrm>
          <a:prstGeom prst="roundRect">
            <a:avLst>
              <a:gd name="adj" fmla="val 4000"/>
            </a:avLst>
          </a:prstGeom>
          <a:solidFill>
            <a:srgbClr val="162055"/>
          </a:solidFill>
          <a:ln w="25400">
            <a:solidFill>
              <a:srgbClr val="1D6FEB"/>
            </a:solidFill>
            <a:prstDash val="solid"/>
          </a:ln>
          <a:effectLst>
            <a:outerShdw blurRad="50800" dist="25400" dir="2700000" algn="bl" rotWithShape="0">
              <a:srgbClr val="000000">
                <a:alpha val="13000"/>
              </a:srgbClr>
            </a:outerShdw>
          </a:effectLst>
        </p:spPr>
        <p:txBody>
          <a:bodyPr/>
          <a:lstStyle/>
          <a:p>
            <a:endParaRPr lang="en-US"/>
          </a:p>
        </p:txBody>
      </p:sp>
      <p:sp>
        <p:nvSpPr>
          <p:cNvPr id="5" name="Shape 3"/>
          <p:cNvSpPr/>
          <p:nvPr/>
        </p:nvSpPr>
        <p:spPr>
          <a:xfrm>
            <a:off x="320040" y="1325880"/>
            <a:ext cx="2743200" cy="475488"/>
          </a:xfrm>
          <a:prstGeom prst="roundRect">
            <a:avLst>
              <a:gd name="adj" fmla="val 23077"/>
            </a:avLst>
          </a:prstGeom>
          <a:solidFill>
            <a:srgbClr val="1D6FEB"/>
          </a:solidFill>
          <a:ln w="12700">
            <a:solidFill>
              <a:srgbClr val="1D6FEB"/>
            </a:solidFill>
            <a:prstDash val="solid"/>
          </a:ln>
        </p:spPr>
        <p:txBody>
          <a:bodyPr/>
          <a:lstStyle/>
          <a:p>
            <a:endParaRPr lang="en-US"/>
          </a:p>
        </p:txBody>
      </p:sp>
      <p:sp>
        <p:nvSpPr>
          <p:cNvPr id="6" name="Text 4"/>
          <p:cNvSpPr/>
          <p:nvPr/>
        </p:nvSpPr>
        <p:spPr>
          <a:xfrm>
            <a:off x="411480" y="1325880"/>
            <a:ext cx="25603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BUILD</a:t>
            </a:r>
            <a:endParaRPr lang="en-US" sz="1800" dirty="0"/>
          </a:p>
        </p:txBody>
      </p:sp>
      <p:sp>
        <p:nvSpPr>
          <p:cNvPr id="7" name="Text 5"/>
          <p:cNvSpPr/>
          <p:nvPr/>
        </p:nvSpPr>
        <p:spPr>
          <a:xfrm>
            <a:off x="457200" y="1901952"/>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Supports Agent Framework, LangGraph, OpenAI Agents SDK, Anthropic Agent SDK, GitHub Copilot SDK — no rewrites</a:t>
            </a:r>
            <a:endParaRPr lang="en-US" sz="1050" dirty="0"/>
          </a:p>
        </p:txBody>
      </p:sp>
      <p:sp>
        <p:nvSpPr>
          <p:cNvPr id="8" name="Text 6"/>
          <p:cNvSpPr/>
          <p:nvPr/>
        </p:nvSpPr>
        <p:spPr>
          <a:xfrm>
            <a:off x="457200" y="2395728"/>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Prompt Agents (portal, no code needed)</a:t>
            </a:r>
            <a:endParaRPr lang="en-US" sz="1050" dirty="0"/>
          </a:p>
        </p:txBody>
      </p:sp>
      <p:sp>
        <p:nvSpPr>
          <p:cNvPr id="9" name="Text 7"/>
          <p:cNvSpPr/>
          <p:nvPr/>
        </p:nvSpPr>
        <p:spPr>
          <a:xfrm>
            <a:off x="457200" y="2889504"/>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Toolbox: 1,400+ MCP-compatible tools</a:t>
            </a:r>
            <a:endParaRPr lang="en-US" sz="1050" dirty="0"/>
          </a:p>
        </p:txBody>
      </p:sp>
      <p:sp>
        <p:nvSpPr>
          <p:cNvPr id="10" name="Text 8"/>
          <p:cNvSpPr/>
          <p:nvPr/>
        </p:nvSpPr>
        <p:spPr>
          <a:xfrm>
            <a:off x="457200" y="3383280"/>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Centralized tool versioning &amp; promotion</a:t>
            </a:r>
            <a:endParaRPr lang="en-US" sz="1050" dirty="0"/>
          </a:p>
        </p:txBody>
      </p:sp>
      <p:sp>
        <p:nvSpPr>
          <p:cNvPr id="11" name="Shape 9"/>
          <p:cNvSpPr/>
          <p:nvPr/>
        </p:nvSpPr>
        <p:spPr>
          <a:xfrm>
            <a:off x="3200400" y="1325880"/>
            <a:ext cx="2743200" cy="3611880"/>
          </a:xfrm>
          <a:prstGeom prst="roundRect">
            <a:avLst>
              <a:gd name="adj" fmla="val 4000"/>
            </a:avLst>
          </a:prstGeom>
          <a:solidFill>
            <a:srgbClr val="162055"/>
          </a:solidFill>
          <a:ln w="25400">
            <a:solidFill>
              <a:srgbClr val="059669"/>
            </a:solidFill>
            <a:prstDash val="solid"/>
          </a:ln>
          <a:effectLst>
            <a:outerShdw blurRad="50800" dist="25400" dir="2700000" algn="bl" rotWithShape="0">
              <a:srgbClr val="000000">
                <a:alpha val="13000"/>
              </a:srgbClr>
            </a:outerShdw>
          </a:effectLst>
        </p:spPr>
        <p:txBody>
          <a:bodyPr/>
          <a:lstStyle/>
          <a:p>
            <a:endParaRPr lang="en-US"/>
          </a:p>
        </p:txBody>
      </p:sp>
      <p:sp>
        <p:nvSpPr>
          <p:cNvPr id="12" name="Shape 10"/>
          <p:cNvSpPr/>
          <p:nvPr/>
        </p:nvSpPr>
        <p:spPr>
          <a:xfrm>
            <a:off x="3200400" y="1325880"/>
            <a:ext cx="2743200" cy="475488"/>
          </a:xfrm>
          <a:prstGeom prst="roundRect">
            <a:avLst>
              <a:gd name="adj" fmla="val 23077"/>
            </a:avLst>
          </a:prstGeom>
          <a:solidFill>
            <a:srgbClr val="059669"/>
          </a:solidFill>
          <a:ln w="12700">
            <a:solidFill>
              <a:srgbClr val="059669"/>
            </a:solidFill>
            <a:prstDash val="solid"/>
          </a:ln>
        </p:spPr>
        <p:txBody>
          <a:bodyPr/>
          <a:lstStyle/>
          <a:p>
            <a:endParaRPr lang="en-US"/>
          </a:p>
        </p:txBody>
      </p:sp>
      <p:sp>
        <p:nvSpPr>
          <p:cNvPr id="13" name="Text 11"/>
          <p:cNvSpPr/>
          <p:nvPr/>
        </p:nvSpPr>
        <p:spPr>
          <a:xfrm>
            <a:off x="3291840" y="1325880"/>
            <a:ext cx="25603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DEPLOY</a:t>
            </a:r>
            <a:endParaRPr lang="en-US" sz="1800" dirty="0"/>
          </a:p>
        </p:txBody>
      </p:sp>
      <p:sp>
        <p:nvSpPr>
          <p:cNvPr id="14" name="Text 12"/>
          <p:cNvSpPr/>
          <p:nvPr/>
        </p:nvSpPr>
        <p:spPr>
          <a:xfrm>
            <a:off x="3337560" y="1901952"/>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Hosted Agents — containerized, auto-scaled</a:t>
            </a:r>
            <a:endParaRPr lang="en-US" sz="1050" dirty="0"/>
          </a:p>
        </p:txBody>
      </p:sp>
      <p:sp>
        <p:nvSpPr>
          <p:cNvPr id="15" name="Text 13"/>
          <p:cNvSpPr/>
          <p:nvPr/>
        </p:nvSpPr>
        <p:spPr>
          <a:xfrm>
            <a:off x="3337560" y="2395728"/>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Session-level state persistence</a:t>
            </a:r>
            <a:endParaRPr lang="en-US" sz="1050" dirty="0"/>
          </a:p>
        </p:txBody>
      </p:sp>
      <p:sp>
        <p:nvSpPr>
          <p:cNvPr id="16" name="Text 14"/>
          <p:cNvSpPr/>
          <p:nvPr/>
        </p:nvSpPr>
        <p:spPr>
          <a:xfrm>
            <a:off x="3337560" y="2889504"/>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Long-running agents &amp; scheduled routines</a:t>
            </a:r>
            <a:endParaRPr lang="en-US" sz="1050" dirty="0"/>
          </a:p>
        </p:txBody>
      </p:sp>
      <p:sp>
        <p:nvSpPr>
          <p:cNvPr id="17" name="Text 15"/>
          <p:cNvSpPr/>
          <p:nvPr/>
        </p:nvSpPr>
        <p:spPr>
          <a:xfrm>
            <a:off x="3337560" y="3383280"/>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Dedicated Microsoft Entra identity per agent</a:t>
            </a:r>
            <a:endParaRPr lang="en-US" sz="1050" dirty="0"/>
          </a:p>
        </p:txBody>
      </p:sp>
      <p:sp>
        <p:nvSpPr>
          <p:cNvPr id="18" name="Text 16"/>
          <p:cNvSpPr/>
          <p:nvPr/>
        </p:nvSpPr>
        <p:spPr>
          <a:xfrm>
            <a:off x="3337560" y="3877056"/>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Publish to Teams, M365 Copilot, or API</a:t>
            </a:r>
            <a:endParaRPr lang="en-US" sz="1050" dirty="0"/>
          </a:p>
        </p:txBody>
      </p:sp>
      <p:sp>
        <p:nvSpPr>
          <p:cNvPr id="19" name="Text 17"/>
          <p:cNvSpPr/>
          <p:nvPr/>
        </p:nvSpPr>
        <p:spPr>
          <a:xfrm>
            <a:off x="3337560" y="4370832"/>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Private VNet support with BYO VNet</a:t>
            </a:r>
            <a:endParaRPr lang="en-US" sz="1050" dirty="0"/>
          </a:p>
        </p:txBody>
      </p:sp>
      <p:sp>
        <p:nvSpPr>
          <p:cNvPr id="20" name="Shape 18"/>
          <p:cNvSpPr/>
          <p:nvPr/>
        </p:nvSpPr>
        <p:spPr>
          <a:xfrm>
            <a:off x="6080760" y="1325880"/>
            <a:ext cx="2743200" cy="3611880"/>
          </a:xfrm>
          <a:prstGeom prst="roundRect">
            <a:avLst>
              <a:gd name="adj" fmla="val 4000"/>
            </a:avLst>
          </a:prstGeom>
          <a:solidFill>
            <a:srgbClr val="162055"/>
          </a:solidFill>
          <a:ln w="25400">
            <a:solidFill>
              <a:srgbClr val="D97706"/>
            </a:solidFill>
            <a:prstDash val="solid"/>
          </a:ln>
          <a:effectLst>
            <a:outerShdw blurRad="50800" dist="25400" dir="2700000" algn="bl" rotWithShape="0">
              <a:srgbClr val="000000">
                <a:alpha val="13000"/>
              </a:srgbClr>
            </a:outerShdw>
          </a:effectLst>
        </p:spPr>
        <p:txBody>
          <a:bodyPr/>
          <a:lstStyle/>
          <a:p>
            <a:endParaRPr lang="en-US"/>
          </a:p>
        </p:txBody>
      </p:sp>
      <p:sp>
        <p:nvSpPr>
          <p:cNvPr id="21" name="Shape 19"/>
          <p:cNvSpPr/>
          <p:nvPr/>
        </p:nvSpPr>
        <p:spPr>
          <a:xfrm>
            <a:off x="6080760" y="1325880"/>
            <a:ext cx="2743200" cy="475488"/>
          </a:xfrm>
          <a:prstGeom prst="roundRect">
            <a:avLst>
              <a:gd name="adj" fmla="val 23077"/>
            </a:avLst>
          </a:prstGeom>
          <a:solidFill>
            <a:srgbClr val="D97706"/>
          </a:solidFill>
          <a:ln w="12700">
            <a:solidFill>
              <a:srgbClr val="D97706"/>
            </a:solidFill>
            <a:prstDash val="solid"/>
          </a:ln>
        </p:spPr>
        <p:txBody>
          <a:bodyPr/>
          <a:lstStyle/>
          <a:p>
            <a:endParaRPr lang="en-US"/>
          </a:p>
        </p:txBody>
      </p:sp>
      <p:sp>
        <p:nvSpPr>
          <p:cNvPr id="22" name="Text 20"/>
          <p:cNvSpPr/>
          <p:nvPr/>
        </p:nvSpPr>
        <p:spPr>
          <a:xfrm>
            <a:off x="6172200" y="1325880"/>
            <a:ext cx="25603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OPERATE</a:t>
            </a:r>
            <a:endParaRPr lang="en-US" sz="1800" dirty="0"/>
          </a:p>
        </p:txBody>
      </p:sp>
      <p:sp>
        <p:nvSpPr>
          <p:cNvPr id="23" name="Text 21"/>
          <p:cNvSpPr/>
          <p:nvPr/>
        </p:nvSpPr>
        <p:spPr>
          <a:xfrm>
            <a:off x="6217920" y="1901952"/>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Full OTel tracing: every model call, tool hop, and sub-agent handoff</a:t>
            </a:r>
            <a:endParaRPr lang="en-US" sz="1050" dirty="0"/>
          </a:p>
        </p:txBody>
      </p:sp>
      <p:sp>
        <p:nvSpPr>
          <p:cNvPr id="24" name="Text 22"/>
          <p:cNvSpPr/>
          <p:nvPr/>
        </p:nvSpPr>
        <p:spPr>
          <a:xfrm>
            <a:off x="6217920" y="2395728"/>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Evaluations linked back to traces</a:t>
            </a:r>
            <a:endParaRPr lang="en-US" sz="1050" dirty="0"/>
          </a:p>
        </p:txBody>
      </p:sp>
      <p:sp>
        <p:nvSpPr>
          <p:cNvPr id="25" name="Text 23"/>
          <p:cNvSpPr/>
          <p:nvPr/>
        </p:nvSpPr>
        <p:spPr>
          <a:xfrm>
            <a:off x="6217920" y="2889504"/>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Agent Optimizer (auto-improves instructions)</a:t>
            </a:r>
            <a:endParaRPr lang="en-US" sz="1050" dirty="0"/>
          </a:p>
        </p:txBody>
      </p:sp>
      <p:sp>
        <p:nvSpPr>
          <p:cNvPr id="26" name="Text 24"/>
          <p:cNvSpPr/>
          <p:nvPr/>
        </p:nvSpPr>
        <p:spPr>
          <a:xfrm>
            <a:off x="6217920" y="3383280"/>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Zone-redundant HA infrastructure</a:t>
            </a:r>
            <a:endParaRPr lang="en-US" sz="1050" dirty="0"/>
          </a:p>
        </p:txBody>
      </p:sp>
      <p:sp>
        <p:nvSpPr>
          <p:cNvPr id="27" name="Text 25"/>
          <p:cNvSpPr/>
          <p:nvPr/>
        </p:nvSpPr>
        <p:spPr>
          <a:xfrm>
            <a:off x="6217920" y="3877056"/>
            <a:ext cx="2514600" cy="457200"/>
          </a:xfrm>
          <a:prstGeom prst="rect">
            <a:avLst/>
          </a:prstGeom>
          <a:noFill/>
          <a:ln/>
        </p:spPr>
        <p:txBody>
          <a:bodyPr wrap="square" rtlCol="0" anchor="t"/>
          <a:lstStyle/>
          <a:p>
            <a:pPr marL="0" indent="0">
              <a:buNone/>
            </a:pPr>
            <a:r>
              <a:rPr lang="en-US" sz="1050" dirty="0">
                <a:solidFill>
                  <a:srgbClr val="CADCFC"/>
                </a:solidFill>
                <a:latin typeface="Calibri" pitchFamily="34" charset="0"/>
                <a:ea typeface="Calibri" pitchFamily="34" charset="-122"/>
                <a:cs typeface="Calibri" pitchFamily="34" charset="-120"/>
              </a:rPr>
              <a:t>• Disaster recovery runbooks provided</a:t>
            </a:r>
            <a:endParaRPr lang="en-US" sz="1050" dirty="0"/>
          </a:p>
        </p:txBody>
      </p:sp>
      <p:sp>
        <p:nvSpPr>
          <p:cNvPr id="28" name="Text 26"/>
          <p:cNvSpPr/>
          <p:nvPr/>
        </p:nvSpPr>
        <p:spPr>
          <a:xfrm>
            <a:off x="457200" y="4846320"/>
            <a:ext cx="8229600" cy="228600"/>
          </a:xfrm>
          <a:prstGeom prst="rect">
            <a:avLst/>
          </a:prstGeom>
          <a:noFill/>
          <a:ln/>
        </p:spPr>
        <p:txBody>
          <a:bodyPr wrap="square" rtlCol="0" anchor="ctr"/>
          <a:lstStyle/>
          <a:p>
            <a:pPr marL="0" indent="0" algn="ctr">
              <a:buNone/>
            </a:pPr>
            <a:r>
              <a:rPr lang="en-US" sz="1050" i="1" dirty="0">
                <a:solidFill>
                  <a:srgbClr val="8AB4D8"/>
                </a:solidFill>
                <a:latin typeface="Calibri" pitchFamily="34" charset="0"/>
                <a:ea typeface="Calibri" pitchFamily="34" charset="-122"/>
                <a:cs typeface="Calibri" pitchFamily="34" charset="-120"/>
              </a:rPr>
              <a:t>Generally Available · July 2026  ·  learn.microsoft.com/azure/foundry/agents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marL="0" indent="0">
              <a:buNone/>
            </a:pPr>
            <a:r>
              <a:rPr lang="en-US" sz="2700" b="1" dirty="0">
                <a:solidFill>
                  <a:srgbClr val="1E2761"/>
                </a:solidFill>
                <a:latin typeface="Calibri" pitchFamily="34" charset="0"/>
                <a:ea typeface="Calibri" pitchFamily="34" charset="-122"/>
                <a:cs typeface="Calibri" pitchFamily="34" charset="-120"/>
              </a:rPr>
              <a:t>Foundry Closes the Architecture Gaps</a:t>
            </a:r>
            <a:endParaRPr lang="en-US" sz="2700" dirty="0"/>
          </a:p>
        </p:txBody>
      </p:sp>
      <p:sp>
        <p:nvSpPr>
          <p:cNvPr id="3" name="Text 1"/>
          <p:cNvSpPr/>
          <p:nvPr/>
        </p:nvSpPr>
        <p:spPr>
          <a:xfrm>
            <a:off x="365760" y="594360"/>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The three additions from Slide 3 — Foundry handles each one natively</a:t>
            </a:r>
            <a:endParaRPr lang="en-US" sz="1300" dirty="0"/>
          </a:p>
        </p:txBody>
      </p:sp>
      <p:sp>
        <p:nvSpPr>
          <p:cNvPr id="4" name="Shape 2"/>
          <p:cNvSpPr/>
          <p:nvPr/>
        </p:nvSpPr>
        <p:spPr>
          <a:xfrm>
            <a:off x="274320" y="1307592"/>
            <a:ext cx="384048" cy="384048"/>
          </a:xfrm>
          <a:prstGeom prst="ellipse">
            <a:avLst/>
          </a:prstGeom>
          <a:solidFill>
            <a:srgbClr val="C92A2A"/>
          </a:solidFill>
          <a:ln w="12700">
            <a:solidFill>
              <a:srgbClr val="C92A2A"/>
            </a:solidFill>
            <a:prstDash val="solid"/>
          </a:ln>
        </p:spPr>
        <p:txBody>
          <a:bodyPr/>
          <a:lstStyle/>
          <a:p>
            <a:endParaRPr lang="en-US"/>
          </a:p>
        </p:txBody>
      </p:sp>
      <p:sp>
        <p:nvSpPr>
          <p:cNvPr id="5" name="Text 3"/>
          <p:cNvSpPr/>
          <p:nvPr/>
        </p:nvSpPr>
        <p:spPr>
          <a:xfrm>
            <a:off x="274320"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749808" y="987552"/>
            <a:ext cx="1828800" cy="1078992"/>
          </a:xfrm>
          <a:prstGeom prst="roundRect">
            <a:avLst>
              <a:gd name="adj" fmla="val 6780"/>
            </a:avLst>
          </a:prstGeom>
          <a:solidFill>
            <a:srgbClr val="FFE3E3"/>
          </a:solidFill>
          <a:ln w="19050">
            <a:solidFill>
              <a:srgbClr val="C92A2A"/>
            </a:solidFill>
            <a:prstDash val="solid"/>
          </a:ln>
          <a:effectLst>
            <a:outerShdw blurRad="50800" dist="25400" dir="2700000" algn="bl" rotWithShape="0">
              <a:srgbClr val="000000">
                <a:alpha val="13000"/>
              </a:srgbClr>
            </a:outerShdw>
          </a:effectLst>
        </p:spPr>
        <p:txBody>
          <a:bodyPr/>
          <a:lstStyle/>
          <a:p>
            <a:endParaRPr lang="en-US"/>
          </a:p>
        </p:txBody>
      </p:sp>
      <p:sp>
        <p:nvSpPr>
          <p:cNvPr id="7" name="Text 5"/>
          <p:cNvSpPr/>
          <p:nvPr/>
        </p:nvSpPr>
        <p:spPr>
          <a:xfrm>
            <a:off x="822960" y="1042416"/>
            <a:ext cx="640080" cy="201168"/>
          </a:xfrm>
          <a:prstGeom prst="rect">
            <a:avLst/>
          </a:prstGeom>
          <a:noFill/>
          <a:ln/>
        </p:spPr>
        <p:txBody>
          <a:bodyPr wrap="square" rtlCol="0" anchor="ctr"/>
          <a:lstStyle/>
          <a:p>
            <a:pPr marL="0" indent="0">
              <a:buNone/>
            </a:pPr>
            <a:r>
              <a:rPr lang="en-US" sz="850" b="1" dirty="0">
                <a:solidFill>
                  <a:srgbClr val="C92A2A"/>
                </a:solidFill>
                <a:latin typeface="Calibri" pitchFamily="34" charset="0"/>
                <a:ea typeface="Calibri" pitchFamily="34" charset="-122"/>
                <a:cs typeface="Calibri" pitchFamily="34" charset="-120"/>
              </a:rPr>
              <a:t>GAP</a:t>
            </a:r>
            <a:endParaRPr lang="en-US" sz="850" dirty="0"/>
          </a:p>
        </p:txBody>
      </p:sp>
      <p:sp>
        <p:nvSpPr>
          <p:cNvPr id="8" name="Text 6"/>
          <p:cNvSpPr/>
          <p:nvPr/>
        </p:nvSpPr>
        <p:spPr>
          <a:xfrm>
            <a:off x="822960" y="1261872"/>
            <a:ext cx="1691640" cy="685800"/>
          </a:xfrm>
          <a:prstGeom prst="rect">
            <a:avLst/>
          </a:prstGeom>
          <a:noFill/>
          <a:ln/>
        </p:spPr>
        <p:txBody>
          <a:bodyPr wrap="square" rtlCol="0" anchor="ctr"/>
          <a:lstStyle/>
          <a:p>
            <a:pPr marL="0" indent="0">
              <a:buNone/>
            </a:pPr>
            <a:r>
              <a:rPr lang="en-US" sz="1100" dirty="0">
                <a:solidFill>
                  <a:srgbClr val="343A40"/>
                </a:solidFill>
                <a:latin typeface="Calibri" pitchFamily="34" charset="0"/>
                <a:ea typeface="Calibri" pitchFamily="34" charset="-122"/>
                <a:cs typeface="Calibri" pitchFamily="34" charset="-120"/>
              </a:rPr>
              <a:t>Memory has four tiers</a:t>
            </a:r>
            <a:endParaRPr lang="en-US" sz="1100" dirty="0"/>
          </a:p>
        </p:txBody>
      </p:sp>
      <p:sp>
        <p:nvSpPr>
          <p:cNvPr id="9" name="Shape 7"/>
          <p:cNvSpPr/>
          <p:nvPr/>
        </p:nvSpPr>
        <p:spPr>
          <a:xfrm>
            <a:off x="2633472" y="1527048"/>
            <a:ext cx="566928" cy="0"/>
          </a:xfrm>
          <a:prstGeom prst="line">
            <a:avLst/>
          </a:prstGeom>
          <a:noFill/>
          <a:ln w="25400">
            <a:solidFill>
              <a:srgbClr val="C92A2A"/>
            </a:solidFill>
            <a:prstDash val="solid"/>
          </a:ln>
        </p:spPr>
        <p:txBody>
          <a:bodyPr/>
          <a:lstStyle/>
          <a:p>
            <a:endParaRPr lang="en-US"/>
          </a:p>
        </p:txBody>
      </p:sp>
      <p:sp>
        <p:nvSpPr>
          <p:cNvPr id="10" name="Text 8"/>
          <p:cNvSpPr/>
          <p:nvPr/>
        </p:nvSpPr>
        <p:spPr>
          <a:xfrm>
            <a:off x="2889504" y="1335024"/>
            <a:ext cx="274320" cy="365760"/>
          </a:xfrm>
          <a:prstGeom prst="rect">
            <a:avLst/>
          </a:prstGeom>
          <a:noFill/>
          <a:ln/>
        </p:spPr>
        <p:txBody>
          <a:bodyPr wrap="square" rtlCol="0" anchor="ctr"/>
          <a:lstStyle/>
          <a:p>
            <a:pPr marL="0" indent="0" algn="ctr">
              <a:buNone/>
            </a:pPr>
            <a:r>
              <a:rPr lang="en-US" sz="1800" dirty="0">
                <a:solidFill>
                  <a:srgbClr val="C92A2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246120" y="987552"/>
            <a:ext cx="5577840" cy="1078992"/>
          </a:xfrm>
          <a:prstGeom prst="roundRect">
            <a:avLst>
              <a:gd name="adj" fmla="val 678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12" name="Text 10"/>
          <p:cNvSpPr/>
          <p:nvPr/>
        </p:nvSpPr>
        <p:spPr>
          <a:xfrm>
            <a:off x="3383280" y="1033272"/>
            <a:ext cx="5349240" cy="27432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Foundry: Foundry Managed Memory</a:t>
            </a:r>
            <a:endParaRPr lang="en-US" sz="1150" dirty="0"/>
          </a:p>
        </p:txBody>
      </p:sp>
      <p:sp>
        <p:nvSpPr>
          <p:cNvPr id="13" name="Text 11"/>
          <p:cNvSpPr/>
          <p:nvPr/>
        </p:nvSpPr>
        <p:spPr>
          <a:xfrm>
            <a:off x="3383280" y="1316736"/>
            <a:ext cx="5349240" cy="731520"/>
          </a:xfrm>
          <a:prstGeom prst="rect">
            <a:avLst/>
          </a:prstGeom>
          <a:noFill/>
          <a:ln/>
        </p:spPr>
        <p:txBody>
          <a:bodyPr wrap="square" rtlCol="0" anchor="t"/>
          <a:lstStyle/>
          <a:p>
            <a:pPr marL="0" indent="0">
              <a:buNone/>
            </a:pPr>
            <a:r>
              <a:rPr lang="en-US" sz="1000" dirty="0">
                <a:solidFill>
                  <a:srgbClr val="343A40"/>
                </a:solidFill>
                <a:latin typeface="Calibri" pitchFamily="34" charset="0"/>
                <a:ea typeface="Calibri" pitchFamily="34" charset="-122"/>
                <a:cs typeface="Calibri" pitchFamily="34" charset="-120"/>
              </a:rPr>
              <a:t>Foundry natively manages all four tiers behind one API — no external vector DB to configure. Working memory is the context window; session memory persists automatically per conversation; long-term memory uses semantic search; procedural memory lets agents learn how to do tasks across runs (new at Build 2026, with measured task-success improvements when enabled).</a:t>
            </a:r>
            <a:endParaRPr lang="en-US" sz="1000" dirty="0"/>
          </a:p>
        </p:txBody>
      </p:sp>
      <p:sp>
        <p:nvSpPr>
          <p:cNvPr id="14" name="Shape 12"/>
          <p:cNvSpPr/>
          <p:nvPr/>
        </p:nvSpPr>
        <p:spPr>
          <a:xfrm>
            <a:off x="274320" y="2660904"/>
            <a:ext cx="384048" cy="384048"/>
          </a:xfrm>
          <a:prstGeom prst="ellipse">
            <a:avLst/>
          </a:prstGeom>
          <a:solidFill>
            <a:srgbClr val="5F3DC4"/>
          </a:solidFill>
          <a:ln w="12700">
            <a:solidFill>
              <a:srgbClr val="5F3DC4"/>
            </a:solidFill>
            <a:prstDash val="solid"/>
          </a:ln>
        </p:spPr>
        <p:txBody>
          <a:bodyPr/>
          <a:lstStyle/>
          <a:p>
            <a:endParaRPr lang="en-US"/>
          </a:p>
        </p:txBody>
      </p:sp>
      <p:sp>
        <p:nvSpPr>
          <p:cNvPr id="15" name="Text 13"/>
          <p:cNvSpPr/>
          <p:nvPr/>
        </p:nvSpPr>
        <p:spPr>
          <a:xfrm>
            <a:off x="274320" y="2660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4"/>
          <p:cNvSpPr/>
          <p:nvPr/>
        </p:nvSpPr>
        <p:spPr>
          <a:xfrm>
            <a:off x="749808" y="2340864"/>
            <a:ext cx="1828800" cy="1078992"/>
          </a:xfrm>
          <a:prstGeom prst="roundRect">
            <a:avLst>
              <a:gd name="adj" fmla="val 6780"/>
            </a:avLst>
          </a:prstGeom>
          <a:solidFill>
            <a:srgbClr val="E5DBFF"/>
          </a:solidFill>
          <a:ln w="19050">
            <a:solidFill>
              <a:srgbClr val="5F3DC4"/>
            </a:solidFill>
            <a:prstDash val="solid"/>
          </a:ln>
          <a:effectLst>
            <a:outerShdw blurRad="50800" dist="25400" dir="2700000" algn="bl" rotWithShape="0">
              <a:srgbClr val="000000">
                <a:alpha val="13000"/>
              </a:srgbClr>
            </a:outerShdw>
          </a:effectLst>
        </p:spPr>
        <p:txBody>
          <a:bodyPr/>
          <a:lstStyle/>
          <a:p>
            <a:endParaRPr lang="en-US"/>
          </a:p>
        </p:txBody>
      </p:sp>
      <p:sp>
        <p:nvSpPr>
          <p:cNvPr id="17" name="Text 15"/>
          <p:cNvSpPr/>
          <p:nvPr/>
        </p:nvSpPr>
        <p:spPr>
          <a:xfrm>
            <a:off x="822960" y="2395728"/>
            <a:ext cx="640080" cy="201168"/>
          </a:xfrm>
          <a:prstGeom prst="rect">
            <a:avLst/>
          </a:prstGeom>
          <a:noFill/>
          <a:ln/>
        </p:spPr>
        <p:txBody>
          <a:bodyPr wrap="square" rtlCol="0" anchor="ctr"/>
          <a:lstStyle/>
          <a:p>
            <a:pPr marL="0" indent="0">
              <a:buNone/>
            </a:pPr>
            <a:r>
              <a:rPr lang="en-US" sz="850" b="1" dirty="0">
                <a:solidFill>
                  <a:srgbClr val="5F3DC4"/>
                </a:solidFill>
                <a:latin typeface="Calibri" pitchFamily="34" charset="0"/>
                <a:ea typeface="Calibri" pitchFamily="34" charset="-122"/>
                <a:cs typeface="Calibri" pitchFamily="34" charset="-120"/>
              </a:rPr>
              <a:t>GAP</a:t>
            </a:r>
            <a:endParaRPr lang="en-US" sz="850" dirty="0"/>
          </a:p>
        </p:txBody>
      </p:sp>
      <p:sp>
        <p:nvSpPr>
          <p:cNvPr id="18" name="Text 16"/>
          <p:cNvSpPr/>
          <p:nvPr/>
        </p:nvSpPr>
        <p:spPr>
          <a:xfrm>
            <a:off x="822960" y="2615184"/>
            <a:ext cx="1691640" cy="685800"/>
          </a:xfrm>
          <a:prstGeom prst="rect">
            <a:avLst/>
          </a:prstGeom>
          <a:noFill/>
          <a:ln/>
        </p:spPr>
        <p:txBody>
          <a:bodyPr wrap="square" rtlCol="0" anchor="ctr"/>
          <a:lstStyle/>
          <a:p>
            <a:pPr marL="0" indent="0">
              <a:buNone/>
            </a:pPr>
            <a:r>
              <a:rPr lang="en-US" sz="1100" dirty="0">
                <a:solidFill>
                  <a:srgbClr val="343A40"/>
                </a:solidFill>
                <a:latin typeface="Calibri" pitchFamily="34" charset="0"/>
                <a:ea typeface="Calibri" pitchFamily="34" charset="-122"/>
                <a:cs typeface="Calibri" pitchFamily="34" charset="-120"/>
              </a:rPr>
              <a:t>Harness layer is missing</a:t>
            </a:r>
            <a:endParaRPr lang="en-US" sz="1100" dirty="0"/>
          </a:p>
        </p:txBody>
      </p:sp>
      <p:sp>
        <p:nvSpPr>
          <p:cNvPr id="19" name="Shape 17"/>
          <p:cNvSpPr/>
          <p:nvPr/>
        </p:nvSpPr>
        <p:spPr>
          <a:xfrm>
            <a:off x="2633472" y="2880360"/>
            <a:ext cx="566928" cy="0"/>
          </a:xfrm>
          <a:prstGeom prst="line">
            <a:avLst/>
          </a:prstGeom>
          <a:noFill/>
          <a:ln w="25400">
            <a:solidFill>
              <a:srgbClr val="5F3DC4"/>
            </a:solidFill>
            <a:prstDash val="solid"/>
          </a:ln>
        </p:spPr>
        <p:txBody>
          <a:bodyPr/>
          <a:lstStyle/>
          <a:p>
            <a:endParaRPr lang="en-US"/>
          </a:p>
        </p:txBody>
      </p:sp>
      <p:sp>
        <p:nvSpPr>
          <p:cNvPr id="20" name="Text 18"/>
          <p:cNvSpPr/>
          <p:nvPr/>
        </p:nvSpPr>
        <p:spPr>
          <a:xfrm>
            <a:off x="2889504" y="2688336"/>
            <a:ext cx="274320" cy="365760"/>
          </a:xfrm>
          <a:prstGeom prst="rect">
            <a:avLst/>
          </a:prstGeom>
          <a:noFill/>
          <a:ln/>
        </p:spPr>
        <p:txBody>
          <a:bodyPr wrap="square" rtlCol="0" anchor="ctr"/>
          <a:lstStyle/>
          <a:p>
            <a:pPr marL="0" indent="0" algn="ctr">
              <a:buNone/>
            </a:pPr>
            <a:r>
              <a:rPr lang="en-US" sz="1800" dirty="0">
                <a:solidFill>
                  <a:srgbClr val="5F3DC4"/>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3246120" y="2340864"/>
            <a:ext cx="5577840" cy="1078992"/>
          </a:xfrm>
          <a:prstGeom prst="roundRect">
            <a:avLst>
              <a:gd name="adj" fmla="val 678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22" name="Text 20"/>
          <p:cNvSpPr/>
          <p:nvPr/>
        </p:nvSpPr>
        <p:spPr>
          <a:xfrm>
            <a:off x="3383280" y="2386584"/>
            <a:ext cx="5349240" cy="27432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Foundry: Agent Runtime + Responses API</a:t>
            </a:r>
            <a:endParaRPr lang="en-US" sz="1150" dirty="0"/>
          </a:p>
        </p:txBody>
      </p:sp>
      <p:sp>
        <p:nvSpPr>
          <p:cNvPr id="23" name="Text 21"/>
          <p:cNvSpPr/>
          <p:nvPr/>
        </p:nvSpPr>
        <p:spPr>
          <a:xfrm>
            <a:off x="3383280" y="2670048"/>
            <a:ext cx="5349240" cy="731520"/>
          </a:xfrm>
          <a:prstGeom prst="rect">
            <a:avLst/>
          </a:prstGeom>
          <a:noFill/>
          <a:ln/>
        </p:spPr>
        <p:txBody>
          <a:bodyPr wrap="square" rtlCol="0" anchor="t"/>
          <a:lstStyle/>
          <a:p>
            <a:pPr marL="0" indent="0">
              <a:buNone/>
            </a:pPr>
            <a:r>
              <a:rPr lang="en-US" sz="1000" dirty="0">
                <a:solidFill>
                  <a:srgbClr val="343A40"/>
                </a:solidFill>
                <a:latin typeface="Calibri" pitchFamily="34" charset="0"/>
                <a:ea typeface="Calibri" pitchFamily="34" charset="-122"/>
                <a:cs typeface="Calibri" pitchFamily="34" charset="-120"/>
              </a:rPr>
              <a:t>The Agent Runtime is the harness. It assembles the context window, dispatches tool calls, appends results, and loops until completion — all managed by Foundry. The Responses API is the single entry point for every model call and tool invocation, regardless of framework. Works with Agent Framework, LangGraph, OpenAI Agents SDK, and more.</a:t>
            </a:r>
            <a:endParaRPr lang="en-US" sz="1000" dirty="0"/>
          </a:p>
        </p:txBody>
      </p:sp>
      <p:sp>
        <p:nvSpPr>
          <p:cNvPr id="24" name="Shape 22"/>
          <p:cNvSpPr/>
          <p:nvPr/>
        </p:nvSpPr>
        <p:spPr>
          <a:xfrm>
            <a:off x="274320" y="4014216"/>
            <a:ext cx="384048" cy="384048"/>
          </a:xfrm>
          <a:prstGeom prst="ellipse">
            <a:avLst/>
          </a:prstGeom>
          <a:solidFill>
            <a:srgbClr val="0B7285"/>
          </a:solidFill>
          <a:ln w="12700">
            <a:solidFill>
              <a:srgbClr val="0B7285"/>
            </a:solidFill>
            <a:prstDash val="solid"/>
          </a:ln>
        </p:spPr>
        <p:txBody>
          <a:bodyPr/>
          <a:lstStyle/>
          <a:p>
            <a:endParaRPr lang="en-US"/>
          </a:p>
        </p:txBody>
      </p:sp>
      <p:sp>
        <p:nvSpPr>
          <p:cNvPr id="25" name="Text 23"/>
          <p:cNvSpPr/>
          <p:nvPr/>
        </p:nvSpPr>
        <p:spPr>
          <a:xfrm>
            <a:off x="274320" y="4014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Shape 24"/>
          <p:cNvSpPr/>
          <p:nvPr/>
        </p:nvSpPr>
        <p:spPr>
          <a:xfrm>
            <a:off x="749808" y="3694176"/>
            <a:ext cx="1828800" cy="1078992"/>
          </a:xfrm>
          <a:prstGeom prst="roundRect">
            <a:avLst>
              <a:gd name="adj" fmla="val 6780"/>
            </a:avLst>
          </a:prstGeom>
          <a:solidFill>
            <a:srgbClr val="C3FAE8"/>
          </a:solidFill>
          <a:ln w="19050">
            <a:solidFill>
              <a:srgbClr val="0B7285"/>
            </a:solidFill>
            <a:prstDash val="solid"/>
          </a:ln>
          <a:effectLst>
            <a:outerShdw blurRad="50800" dist="25400" dir="2700000" algn="bl" rotWithShape="0">
              <a:srgbClr val="000000">
                <a:alpha val="13000"/>
              </a:srgbClr>
            </a:outerShdw>
          </a:effectLst>
        </p:spPr>
        <p:txBody>
          <a:bodyPr/>
          <a:lstStyle/>
          <a:p>
            <a:endParaRPr lang="en-US"/>
          </a:p>
        </p:txBody>
      </p:sp>
      <p:sp>
        <p:nvSpPr>
          <p:cNvPr id="27" name="Text 25"/>
          <p:cNvSpPr/>
          <p:nvPr/>
        </p:nvSpPr>
        <p:spPr>
          <a:xfrm>
            <a:off x="822960" y="3749040"/>
            <a:ext cx="640080" cy="201168"/>
          </a:xfrm>
          <a:prstGeom prst="rect">
            <a:avLst/>
          </a:prstGeom>
          <a:noFill/>
          <a:ln/>
        </p:spPr>
        <p:txBody>
          <a:bodyPr wrap="square" rtlCol="0" anchor="ctr"/>
          <a:lstStyle/>
          <a:p>
            <a:pPr marL="0" indent="0">
              <a:buNone/>
            </a:pPr>
            <a:r>
              <a:rPr lang="en-US" sz="850" b="1" dirty="0">
                <a:solidFill>
                  <a:srgbClr val="0B7285"/>
                </a:solidFill>
                <a:latin typeface="Calibri" pitchFamily="34" charset="0"/>
                <a:ea typeface="Calibri" pitchFamily="34" charset="-122"/>
                <a:cs typeface="Calibri" pitchFamily="34" charset="-120"/>
              </a:rPr>
              <a:t>GAP</a:t>
            </a:r>
            <a:endParaRPr lang="en-US" sz="850" dirty="0"/>
          </a:p>
        </p:txBody>
      </p:sp>
      <p:sp>
        <p:nvSpPr>
          <p:cNvPr id="28" name="Text 26"/>
          <p:cNvSpPr/>
          <p:nvPr/>
        </p:nvSpPr>
        <p:spPr>
          <a:xfrm>
            <a:off x="822960" y="3968496"/>
            <a:ext cx="1691640" cy="685800"/>
          </a:xfrm>
          <a:prstGeom prst="rect">
            <a:avLst/>
          </a:prstGeom>
          <a:noFill/>
          <a:ln/>
        </p:spPr>
        <p:txBody>
          <a:bodyPr wrap="square" rtlCol="0" anchor="ctr"/>
          <a:lstStyle/>
          <a:p>
            <a:pPr marL="0" indent="0">
              <a:buNone/>
            </a:pPr>
            <a:r>
              <a:rPr lang="en-US" sz="1100" dirty="0">
                <a:solidFill>
                  <a:srgbClr val="343A40"/>
                </a:solidFill>
                <a:latin typeface="Calibri" pitchFamily="34" charset="0"/>
                <a:ea typeface="Calibri" pitchFamily="34" charset="-122"/>
                <a:cs typeface="Calibri" pitchFamily="34" charset="-120"/>
              </a:rPr>
              <a:t>Memory arrow is one-directional</a:t>
            </a:r>
            <a:endParaRPr lang="en-US" sz="1100" dirty="0"/>
          </a:p>
        </p:txBody>
      </p:sp>
      <p:sp>
        <p:nvSpPr>
          <p:cNvPr id="29" name="Shape 27"/>
          <p:cNvSpPr/>
          <p:nvPr/>
        </p:nvSpPr>
        <p:spPr>
          <a:xfrm>
            <a:off x="2633472" y="4233672"/>
            <a:ext cx="566928" cy="0"/>
          </a:xfrm>
          <a:prstGeom prst="line">
            <a:avLst/>
          </a:prstGeom>
          <a:noFill/>
          <a:ln w="25400">
            <a:solidFill>
              <a:srgbClr val="0B7285"/>
            </a:solidFill>
            <a:prstDash val="solid"/>
          </a:ln>
        </p:spPr>
        <p:txBody>
          <a:bodyPr/>
          <a:lstStyle/>
          <a:p>
            <a:endParaRPr lang="en-US"/>
          </a:p>
        </p:txBody>
      </p:sp>
      <p:sp>
        <p:nvSpPr>
          <p:cNvPr id="30" name="Text 28"/>
          <p:cNvSpPr/>
          <p:nvPr/>
        </p:nvSpPr>
        <p:spPr>
          <a:xfrm>
            <a:off x="2889504" y="4041648"/>
            <a:ext cx="274320" cy="365760"/>
          </a:xfrm>
          <a:prstGeom prst="rect">
            <a:avLst/>
          </a:prstGeom>
          <a:noFill/>
          <a:ln/>
        </p:spPr>
        <p:txBody>
          <a:bodyPr wrap="square" rtlCol="0" anchor="ctr"/>
          <a:lstStyle/>
          <a:p>
            <a:pPr marL="0" indent="0" algn="ctr">
              <a:buNone/>
            </a:pPr>
            <a:r>
              <a:rPr lang="en-US" sz="1800" dirty="0">
                <a:solidFill>
                  <a:srgbClr val="0B7285"/>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3246120" y="3694176"/>
            <a:ext cx="5577840" cy="1078992"/>
          </a:xfrm>
          <a:prstGeom prst="roundRect">
            <a:avLst>
              <a:gd name="adj" fmla="val 678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32" name="Text 30"/>
          <p:cNvSpPr/>
          <p:nvPr/>
        </p:nvSpPr>
        <p:spPr>
          <a:xfrm>
            <a:off x="3383280" y="3739896"/>
            <a:ext cx="5349240" cy="27432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Foundry: Responses API + Foundry IQ</a:t>
            </a:r>
            <a:endParaRPr lang="en-US" sz="1150" dirty="0"/>
          </a:p>
        </p:txBody>
      </p:sp>
      <p:sp>
        <p:nvSpPr>
          <p:cNvPr id="33" name="Text 31"/>
          <p:cNvSpPr/>
          <p:nvPr/>
        </p:nvSpPr>
        <p:spPr>
          <a:xfrm>
            <a:off x="3383280" y="4023360"/>
            <a:ext cx="5349240" cy="731520"/>
          </a:xfrm>
          <a:prstGeom prst="rect">
            <a:avLst/>
          </a:prstGeom>
          <a:noFill/>
          <a:ln/>
        </p:spPr>
        <p:txBody>
          <a:bodyPr wrap="square" rtlCol="0" anchor="t"/>
          <a:lstStyle/>
          <a:p>
            <a:pPr marL="0" indent="0">
              <a:buNone/>
            </a:pPr>
            <a:r>
              <a:rPr lang="en-US" sz="1000" dirty="0">
                <a:solidFill>
                  <a:srgbClr val="343A40"/>
                </a:solidFill>
                <a:latin typeface="Calibri" pitchFamily="34" charset="0"/>
                <a:ea typeface="Calibri" pitchFamily="34" charset="-122"/>
                <a:cs typeface="Calibri" pitchFamily="34" charset="-120"/>
              </a:rPr>
              <a:t>Every Responses API call automatically reads the right memory tier before inference and writes session state and summaries after each turn. Foundry IQ unifies retrieval from SharePoint, Fabric IQ, Azure SQL, File Search, and MCP sources behind one SLA-backed endpoint — bidirectional memory is implicit, with zero custom code.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marL="0" indent="0">
              <a:buNone/>
            </a:pPr>
            <a:r>
              <a:rPr lang="en-US" sz="2700" b="1" dirty="0">
                <a:solidFill>
                  <a:srgbClr val="1E2761"/>
                </a:solidFill>
                <a:latin typeface="Calibri" pitchFamily="34" charset="0"/>
                <a:ea typeface="Calibri" pitchFamily="34" charset="-122"/>
                <a:cs typeface="Calibri" pitchFamily="34" charset="-120"/>
              </a:rPr>
              <a:t>Foundry Addresses Every Failure Point</a:t>
            </a:r>
            <a:endParaRPr lang="en-US" sz="2700" dirty="0"/>
          </a:p>
        </p:txBody>
      </p:sp>
      <p:sp>
        <p:nvSpPr>
          <p:cNvPr id="3" name="Text 1"/>
          <p:cNvSpPr/>
          <p:nvPr/>
        </p:nvSpPr>
        <p:spPr>
          <a:xfrm>
            <a:off x="365760" y="594360"/>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Direct answer for each of the 8 failure zones — from networking to runaway loops</a:t>
            </a:r>
            <a:endParaRPr lang="en-US" sz="1300" dirty="0"/>
          </a:p>
        </p:txBody>
      </p:sp>
      <p:sp>
        <p:nvSpPr>
          <p:cNvPr id="4" name="Shape 2"/>
          <p:cNvSpPr/>
          <p:nvPr/>
        </p:nvSpPr>
        <p:spPr>
          <a:xfrm>
            <a:off x="274320" y="987552"/>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5" name="Shape 3"/>
          <p:cNvSpPr/>
          <p:nvPr/>
        </p:nvSpPr>
        <p:spPr>
          <a:xfrm>
            <a:off x="365760" y="1243584"/>
            <a:ext cx="329184" cy="329184"/>
          </a:xfrm>
          <a:prstGeom prst="ellipse">
            <a:avLst/>
          </a:prstGeom>
          <a:solidFill>
            <a:srgbClr val="C92A2A"/>
          </a:solidFill>
          <a:ln w="12700">
            <a:solidFill>
              <a:srgbClr val="C92A2A"/>
            </a:solidFill>
            <a:prstDash val="solid"/>
          </a:ln>
        </p:spPr>
        <p:txBody>
          <a:bodyPr/>
          <a:lstStyle/>
          <a:p>
            <a:endParaRPr lang="en-US"/>
          </a:p>
        </p:txBody>
      </p:sp>
      <p:sp>
        <p:nvSpPr>
          <p:cNvPr id="6" name="Text 4"/>
          <p:cNvSpPr/>
          <p:nvPr/>
        </p:nvSpPr>
        <p:spPr>
          <a:xfrm>
            <a:off x="365760" y="124358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①</a:t>
            </a:r>
            <a:endParaRPr lang="en-US" sz="900" dirty="0"/>
          </a:p>
        </p:txBody>
      </p:sp>
      <p:sp>
        <p:nvSpPr>
          <p:cNvPr id="7" name="Text 5"/>
          <p:cNvSpPr/>
          <p:nvPr/>
        </p:nvSpPr>
        <p:spPr>
          <a:xfrm>
            <a:off x="777240" y="1042416"/>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Network timeout (client → agent)</a:t>
            </a:r>
            <a:endParaRPr lang="en-US" sz="1050" dirty="0"/>
          </a:p>
        </p:txBody>
      </p:sp>
      <p:sp>
        <p:nvSpPr>
          <p:cNvPr id="8" name="Shape 6"/>
          <p:cNvSpPr/>
          <p:nvPr/>
        </p:nvSpPr>
        <p:spPr>
          <a:xfrm>
            <a:off x="777240" y="1335024"/>
            <a:ext cx="3657600" cy="0"/>
          </a:xfrm>
          <a:prstGeom prst="line">
            <a:avLst/>
          </a:prstGeom>
          <a:noFill/>
          <a:ln w="6350">
            <a:solidFill>
              <a:srgbClr val="CED4DA"/>
            </a:solidFill>
            <a:prstDash val="solid"/>
          </a:ln>
        </p:spPr>
        <p:txBody>
          <a:bodyPr/>
          <a:lstStyle/>
          <a:p>
            <a:endParaRPr lang="en-US"/>
          </a:p>
        </p:txBody>
      </p:sp>
      <p:sp>
        <p:nvSpPr>
          <p:cNvPr id="9" name="Shape 7"/>
          <p:cNvSpPr/>
          <p:nvPr/>
        </p:nvSpPr>
        <p:spPr>
          <a:xfrm>
            <a:off x="777240" y="1463040"/>
            <a:ext cx="256032" cy="256032"/>
          </a:xfrm>
          <a:prstGeom prst="ellipse">
            <a:avLst/>
          </a:prstGeom>
          <a:solidFill>
            <a:srgbClr val="2F9E44"/>
          </a:solidFill>
          <a:ln w="12700">
            <a:solidFill>
              <a:srgbClr val="2F9E44"/>
            </a:solidFill>
            <a:prstDash val="solid"/>
          </a:ln>
        </p:spPr>
        <p:txBody>
          <a:bodyPr/>
          <a:lstStyle/>
          <a:p>
            <a:endParaRPr lang="en-US"/>
          </a:p>
        </p:txBody>
      </p:sp>
      <p:sp>
        <p:nvSpPr>
          <p:cNvPr id="10" name="Text 8"/>
          <p:cNvSpPr/>
          <p:nvPr/>
        </p:nvSpPr>
        <p:spPr>
          <a:xfrm>
            <a:off x="777240" y="1463040"/>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1" name="Text 9"/>
          <p:cNvSpPr/>
          <p:nvPr/>
        </p:nvSpPr>
        <p:spPr>
          <a:xfrm>
            <a:off x="1097280" y="1426464"/>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Managed Azure load-balanced endpoint; Standard deployments spread requests across regions automatically</a:t>
            </a:r>
            <a:endParaRPr lang="en-US" sz="950" dirty="0"/>
          </a:p>
        </p:txBody>
      </p:sp>
      <p:sp>
        <p:nvSpPr>
          <p:cNvPr id="12" name="Shape 10"/>
          <p:cNvSpPr/>
          <p:nvPr/>
        </p:nvSpPr>
        <p:spPr>
          <a:xfrm>
            <a:off x="4663440" y="987552"/>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13" name="Shape 11"/>
          <p:cNvSpPr/>
          <p:nvPr/>
        </p:nvSpPr>
        <p:spPr>
          <a:xfrm>
            <a:off x="4754880" y="1243584"/>
            <a:ext cx="329184" cy="329184"/>
          </a:xfrm>
          <a:prstGeom prst="ellipse">
            <a:avLst/>
          </a:prstGeom>
          <a:solidFill>
            <a:srgbClr val="C92A2A"/>
          </a:solidFill>
          <a:ln w="12700">
            <a:solidFill>
              <a:srgbClr val="C92A2A"/>
            </a:solidFill>
            <a:prstDash val="solid"/>
          </a:ln>
        </p:spPr>
        <p:txBody>
          <a:bodyPr/>
          <a:lstStyle/>
          <a:p>
            <a:endParaRPr lang="en-US"/>
          </a:p>
        </p:txBody>
      </p:sp>
      <p:sp>
        <p:nvSpPr>
          <p:cNvPr id="14" name="Text 12"/>
          <p:cNvSpPr/>
          <p:nvPr/>
        </p:nvSpPr>
        <p:spPr>
          <a:xfrm>
            <a:off x="4754880" y="124358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②</a:t>
            </a:r>
            <a:endParaRPr lang="en-US" sz="900" dirty="0"/>
          </a:p>
        </p:txBody>
      </p:sp>
      <p:sp>
        <p:nvSpPr>
          <p:cNvPr id="15" name="Text 13"/>
          <p:cNvSpPr/>
          <p:nvPr/>
        </p:nvSpPr>
        <p:spPr>
          <a:xfrm>
            <a:off x="5166360" y="1042416"/>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Context window overflow</a:t>
            </a:r>
            <a:endParaRPr lang="en-US" sz="1050" dirty="0"/>
          </a:p>
        </p:txBody>
      </p:sp>
      <p:sp>
        <p:nvSpPr>
          <p:cNvPr id="16" name="Shape 14"/>
          <p:cNvSpPr/>
          <p:nvPr/>
        </p:nvSpPr>
        <p:spPr>
          <a:xfrm>
            <a:off x="5166360" y="1335024"/>
            <a:ext cx="3657600" cy="0"/>
          </a:xfrm>
          <a:prstGeom prst="line">
            <a:avLst/>
          </a:prstGeom>
          <a:noFill/>
          <a:ln w="6350">
            <a:solidFill>
              <a:srgbClr val="CED4DA"/>
            </a:solidFill>
            <a:prstDash val="solid"/>
          </a:ln>
        </p:spPr>
        <p:txBody>
          <a:bodyPr/>
          <a:lstStyle/>
          <a:p>
            <a:endParaRPr lang="en-US"/>
          </a:p>
        </p:txBody>
      </p:sp>
      <p:sp>
        <p:nvSpPr>
          <p:cNvPr id="17" name="Shape 15"/>
          <p:cNvSpPr/>
          <p:nvPr/>
        </p:nvSpPr>
        <p:spPr>
          <a:xfrm>
            <a:off x="5166360" y="1463040"/>
            <a:ext cx="256032" cy="256032"/>
          </a:xfrm>
          <a:prstGeom prst="ellipse">
            <a:avLst/>
          </a:prstGeom>
          <a:solidFill>
            <a:srgbClr val="2F9E44"/>
          </a:solidFill>
          <a:ln w="12700">
            <a:solidFill>
              <a:srgbClr val="2F9E44"/>
            </a:solidFill>
            <a:prstDash val="solid"/>
          </a:ln>
        </p:spPr>
        <p:txBody>
          <a:bodyPr/>
          <a:lstStyle/>
          <a:p>
            <a:endParaRPr lang="en-US"/>
          </a:p>
        </p:txBody>
      </p:sp>
      <p:sp>
        <p:nvSpPr>
          <p:cNvPr id="18" name="Text 16"/>
          <p:cNvSpPr/>
          <p:nvPr/>
        </p:nvSpPr>
        <p:spPr>
          <a:xfrm>
            <a:off x="5166360" y="1463040"/>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5486400" y="1426464"/>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Runtime enforces token limits; session + procedural memory offloads history so context stays lean</a:t>
            </a:r>
            <a:endParaRPr lang="en-US" sz="950" dirty="0"/>
          </a:p>
        </p:txBody>
      </p:sp>
      <p:sp>
        <p:nvSpPr>
          <p:cNvPr id="20" name="Shape 18"/>
          <p:cNvSpPr/>
          <p:nvPr/>
        </p:nvSpPr>
        <p:spPr>
          <a:xfrm>
            <a:off x="274320" y="2011680"/>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21" name="Shape 19"/>
          <p:cNvSpPr/>
          <p:nvPr/>
        </p:nvSpPr>
        <p:spPr>
          <a:xfrm>
            <a:off x="365760" y="2267712"/>
            <a:ext cx="329184" cy="329184"/>
          </a:xfrm>
          <a:prstGeom prst="ellipse">
            <a:avLst/>
          </a:prstGeom>
          <a:solidFill>
            <a:srgbClr val="C92A2A"/>
          </a:solidFill>
          <a:ln w="12700">
            <a:solidFill>
              <a:srgbClr val="C92A2A"/>
            </a:solidFill>
            <a:prstDash val="solid"/>
          </a:ln>
        </p:spPr>
        <p:txBody>
          <a:bodyPr/>
          <a:lstStyle/>
          <a:p>
            <a:endParaRPr lang="en-US"/>
          </a:p>
        </p:txBody>
      </p:sp>
      <p:sp>
        <p:nvSpPr>
          <p:cNvPr id="22" name="Text 20"/>
          <p:cNvSpPr/>
          <p:nvPr/>
        </p:nvSpPr>
        <p:spPr>
          <a:xfrm>
            <a:off x="365760" y="2267712"/>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③</a:t>
            </a:r>
            <a:endParaRPr lang="en-US" sz="900" dirty="0"/>
          </a:p>
        </p:txBody>
      </p:sp>
      <p:sp>
        <p:nvSpPr>
          <p:cNvPr id="23" name="Text 21"/>
          <p:cNvSpPr/>
          <p:nvPr/>
        </p:nvSpPr>
        <p:spPr>
          <a:xfrm>
            <a:off x="777240" y="2066544"/>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Model API timeout / HTTP 429 throttle</a:t>
            </a:r>
            <a:endParaRPr lang="en-US" sz="1050" dirty="0"/>
          </a:p>
        </p:txBody>
      </p:sp>
      <p:sp>
        <p:nvSpPr>
          <p:cNvPr id="24" name="Shape 22"/>
          <p:cNvSpPr/>
          <p:nvPr/>
        </p:nvSpPr>
        <p:spPr>
          <a:xfrm>
            <a:off x="777240" y="2359152"/>
            <a:ext cx="3657600" cy="0"/>
          </a:xfrm>
          <a:prstGeom prst="line">
            <a:avLst/>
          </a:prstGeom>
          <a:noFill/>
          <a:ln w="6350">
            <a:solidFill>
              <a:srgbClr val="CED4DA"/>
            </a:solidFill>
            <a:prstDash val="solid"/>
          </a:ln>
        </p:spPr>
        <p:txBody>
          <a:bodyPr/>
          <a:lstStyle/>
          <a:p>
            <a:endParaRPr lang="en-US"/>
          </a:p>
        </p:txBody>
      </p:sp>
      <p:sp>
        <p:nvSpPr>
          <p:cNvPr id="25" name="Shape 23"/>
          <p:cNvSpPr/>
          <p:nvPr/>
        </p:nvSpPr>
        <p:spPr>
          <a:xfrm>
            <a:off x="777240" y="2487168"/>
            <a:ext cx="256032" cy="256032"/>
          </a:xfrm>
          <a:prstGeom prst="ellipse">
            <a:avLst/>
          </a:prstGeom>
          <a:solidFill>
            <a:srgbClr val="2F9E44"/>
          </a:solidFill>
          <a:ln w="12700">
            <a:solidFill>
              <a:srgbClr val="2F9E44"/>
            </a:solidFill>
            <a:prstDash val="solid"/>
          </a:ln>
        </p:spPr>
        <p:txBody>
          <a:bodyPr/>
          <a:lstStyle/>
          <a:p>
            <a:endParaRPr lang="en-US"/>
          </a:p>
        </p:txBody>
      </p:sp>
      <p:sp>
        <p:nvSpPr>
          <p:cNvPr id="26" name="Text 24"/>
          <p:cNvSpPr/>
          <p:nvPr/>
        </p:nvSpPr>
        <p:spPr>
          <a:xfrm>
            <a:off x="777240" y="24871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1097280" y="2450592"/>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Built-in retry with backoff; multi-region PTU deployments via Foundry model catalog</a:t>
            </a:r>
            <a:endParaRPr lang="en-US" sz="950" dirty="0"/>
          </a:p>
        </p:txBody>
      </p:sp>
      <p:sp>
        <p:nvSpPr>
          <p:cNvPr id="28" name="Shape 26"/>
          <p:cNvSpPr/>
          <p:nvPr/>
        </p:nvSpPr>
        <p:spPr>
          <a:xfrm>
            <a:off x="4663440" y="2011680"/>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29" name="Shape 27"/>
          <p:cNvSpPr/>
          <p:nvPr/>
        </p:nvSpPr>
        <p:spPr>
          <a:xfrm>
            <a:off x="4754880" y="2267712"/>
            <a:ext cx="329184" cy="329184"/>
          </a:xfrm>
          <a:prstGeom prst="ellipse">
            <a:avLst/>
          </a:prstGeom>
          <a:solidFill>
            <a:srgbClr val="C92A2A"/>
          </a:solidFill>
          <a:ln w="12700">
            <a:solidFill>
              <a:srgbClr val="C92A2A"/>
            </a:solidFill>
            <a:prstDash val="solid"/>
          </a:ln>
        </p:spPr>
        <p:txBody>
          <a:bodyPr/>
          <a:lstStyle/>
          <a:p>
            <a:endParaRPr lang="en-US"/>
          </a:p>
        </p:txBody>
      </p:sp>
      <p:sp>
        <p:nvSpPr>
          <p:cNvPr id="30" name="Text 28"/>
          <p:cNvSpPr/>
          <p:nvPr/>
        </p:nvSpPr>
        <p:spPr>
          <a:xfrm>
            <a:off x="4754880" y="2267712"/>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④</a:t>
            </a:r>
            <a:endParaRPr lang="en-US" sz="900" dirty="0"/>
          </a:p>
        </p:txBody>
      </p:sp>
      <p:sp>
        <p:nvSpPr>
          <p:cNvPr id="31" name="Text 29"/>
          <p:cNvSpPr/>
          <p:nvPr/>
        </p:nvSpPr>
        <p:spPr>
          <a:xfrm>
            <a:off x="5166360" y="2066544"/>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Tool dispatch failure (auth / 5xx)</a:t>
            </a:r>
            <a:endParaRPr lang="en-US" sz="1050" dirty="0"/>
          </a:p>
        </p:txBody>
      </p:sp>
      <p:sp>
        <p:nvSpPr>
          <p:cNvPr id="32" name="Shape 30"/>
          <p:cNvSpPr/>
          <p:nvPr/>
        </p:nvSpPr>
        <p:spPr>
          <a:xfrm>
            <a:off x="5166360" y="2359152"/>
            <a:ext cx="3657600" cy="0"/>
          </a:xfrm>
          <a:prstGeom prst="line">
            <a:avLst/>
          </a:prstGeom>
          <a:noFill/>
          <a:ln w="6350">
            <a:solidFill>
              <a:srgbClr val="CED4DA"/>
            </a:solidFill>
            <a:prstDash val="solid"/>
          </a:ln>
        </p:spPr>
        <p:txBody>
          <a:bodyPr/>
          <a:lstStyle/>
          <a:p>
            <a:endParaRPr lang="en-US"/>
          </a:p>
        </p:txBody>
      </p:sp>
      <p:sp>
        <p:nvSpPr>
          <p:cNvPr id="33" name="Shape 31"/>
          <p:cNvSpPr/>
          <p:nvPr/>
        </p:nvSpPr>
        <p:spPr>
          <a:xfrm>
            <a:off x="5166360" y="2487168"/>
            <a:ext cx="256032" cy="256032"/>
          </a:xfrm>
          <a:prstGeom prst="ellipse">
            <a:avLst/>
          </a:prstGeom>
          <a:solidFill>
            <a:srgbClr val="2F9E44"/>
          </a:solidFill>
          <a:ln w="12700">
            <a:solidFill>
              <a:srgbClr val="2F9E44"/>
            </a:solidFill>
            <a:prstDash val="solid"/>
          </a:ln>
        </p:spPr>
        <p:txBody>
          <a:bodyPr/>
          <a:lstStyle/>
          <a:p>
            <a:endParaRPr lang="en-US"/>
          </a:p>
        </p:txBody>
      </p:sp>
      <p:sp>
        <p:nvSpPr>
          <p:cNvPr id="34" name="Text 32"/>
          <p:cNvSpPr/>
          <p:nvPr/>
        </p:nvSpPr>
        <p:spPr>
          <a:xfrm>
            <a:off x="5166360" y="24871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5" name="Text 33"/>
          <p:cNvSpPr/>
          <p:nvPr/>
        </p:nvSpPr>
        <p:spPr>
          <a:xfrm>
            <a:off x="5486400" y="2450592"/>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Managed auth (Entra identity + OBO passthrough); every failed tool call is surfaced in OpenTelemetry trace</a:t>
            </a:r>
            <a:endParaRPr lang="en-US" sz="950" dirty="0"/>
          </a:p>
        </p:txBody>
      </p:sp>
      <p:sp>
        <p:nvSpPr>
          <p:cNvPr id="36" name="Shape 34"/>
          <p:cNvSpPr/>
          <p:nvPr/>
        </p:nvSpPr>
        <p:spPr>
          <a:xfrm>
            <a:off x="274320" y="3035808"/>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37" name="Shape 35"/>
          <p:cNvSpPr/>
          <p:nvPr/>
        </p:nvSpPr>
        <p:spPr>
          <a:xfrm>
            <a:off x="365760" y="3291840"/>
            <a:ext cx="329184" cy="329184"/>
          </a:xfrm>
          <a:prstGeom prst="ellipse">
            <a:avLst/>
          </a:prstGeom>
          <a:solidFill>
            <a:srgbClr val="C92A2A"/>
          </a:solidFill>
          <a:ln w="12700">
            <a:solidFill>
              <a:srgbClr val="C92A2A"/>
            </a:solidFill>
            <a:prstDash val="solid"/>
          </a:ln>
        </p:spPr>
        <p:txBody>
          <a:bodyPr/>
          <a:lstStyle/>
          <a:p>
            <a:endParaRPr lang="en-US"/>
          </a:p>
        </p:txBody>
      </p:sp>
      <p:sp>
        <p:nvSpPr>
          <p:cNvPr id="38" name="Text 36"/>
          <p:cNvSpPr/>
          <p:nvPr/>
        </p:nvSpPr>
        <p:spPr>
          <a:xfrm>
            <a:off x="365760" y="329184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⑤</a:t>
            </a:r>
            <a:endParaRPr lang="en-US" sz="900" dirty="0"/>
          </a:p>
        </p:txBody>
      </p:sp>
      <p:sp>
        <p:nvSpPr>
          <p:cNvPr id="39" name="Text 37"/>
          <p:cNvSpPr/>
          <p:nvPr/>
        </p:nvSpPr>
        <p:spPr>
          <a:xfrm>
            <a:off x="777240" y="3090672"/>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Network partition (tool → agent)</a:t>
            </a:r>
            <a:endParaRPr lang="en-US" sz="1050" dirty="0"/>
          </a:p>
        </p:txBody>
      </p:sp>
      <p:sp>
        <p:nvSpPr>
          <p:cNvPr id="40" name="Shape 38"/>
          <p:cNvSpPr/>
          <p:nvPr/>
        </p:nvSpPr>
        <p:spPr>
          <a:xfrm>
            <a:off x="777240" y="3383280"/>
            <a:ext cx="3657600" cy="0"/>
          </a:xfrm>
          <a:prstGeom prst="line">
            <a:avLst/>
          </a:prstGeom>
          <a:noFill/>
          <a:ln w="6350">
            <a:solidFill>
              <a:srgbClr val="CED4DA"/>
            </a:solidFill>
            <a:prstDash val="solid"/>
          </a:ln>
        </p:spPr>
        <p:txBody>
          <a:bodyPr/>
          <a:lstStyle/>
          <a:p>
            <a:endParaRPr lang="en-US"/>
          </a:p>
        </p:txBody>
      </p:sp>
      <p:sp>
        <p:nvSpPr>
          <p:cNvPr id="41" name="Shape 39"/>
          <p:cNvSpPr/>
          <p:nvPr/>
        </p:nvSpPr>
        <p:spPr>
          <a:xfrm>
            <a:off x="777240" y="3511296"/>
            <a:ext cx="256032" cy="256032"/>
          </a:xfrm>
          <a:prstGeom prst="ellipse">
            <a:avLst/>
          </a:prstGeom>
          <a:solidFill>
            <a:srgbClr val="2F9E44"/>
          </a:solidFill>
          <a:ln w="12700">
            <a:solidFill>
              <a:srgbClr val="2F9E44"/>
            </a:solidFill>
            <a:prstDash val="solid"/>
          </a:ln>
        </p:spPr>
        <p:txBody>
          <a:bodyPr/>
          <a:lstStyle/>
          <a:p>
            <a:endParaRPr lang="en-US"/>
          </a:p>
        </p:txBody>
      </p:sp>
      <p:sp>
        <p:nvSpPr>
          <p:cNvPr id="42" name="Text 40"/>
          <p:cNvSpPr/>
          <p:nvPr/>
        </p:nvSpPr>
        <p:spPr>
          <a:xfrm>
            <a:off x="777240" y="3511296"/>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3" name="Text 41"/>
          <p:cNvSpPr/>
          <p:nvPr/>
        </p:nvSpPr>
        <p:spPr>
          <a:xfrm>
            <a:off x="1097280" y="3474720"/>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Toolbox SLA-backed retrieval; zone-redundant storage for tool state; configurable timeouts &amp; retries</a:t>
            </a:r>
            <a:endParaRPr lang="en-US" sz="950" dirty="0"/>
          </a:p>
        </p:txBody>
      </p:sp>
      <p:sp>
        <p:nvSpPr>
          <p:cNvPr id="44" name="Shape 42"/>
          <p:cNvSpPr/>
          <p:nvPr/>
        </p:nvSpPr>
        <p:spPr>
          <a:xfrm>
            <a:off x="4663440" y="3035808"/>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45" name="Shape 43"/>
          <p:cNvSpPr/>
          <p:nvPr/>
        </p:nvSpPr>
        <p:spPr>
          <a:xfrm>
            <a:off x="4754880" y="3291840"/>
            <a:ext cx="329184" cy="329184"/>
          </a:xfrm>
          <a:prstGeom prst="ellipse">
            <a:avLst/>
          </a:prstGeom>
          <a:solidFill>
            <a:srgbClr val="C92A2A"/>
          </a:solidFill>
          <a:ln w="12700">
            <a:solidFill>
              <a:srgbClr val="C92A2A"/>
            </a:solidFill>
            <a:prstDash val="solid"/>
          </a:ln>
        </p:spPr>
        <p:txBody>
          <a:bodyPr/>
          <a:lstStyle/>
          <a:p>
            <a:endParaRPr lang="en-US"/>
          </a:p>
        </p:txBody>
      </p:sp>
      <p:sp>
        <p:nvSpPr>
          <p:cNvPr id="46" name="Text 44"/>
          <p:cNvSpPr/>
          <p:nvPr/>
        </p:nvSpPr>
        <p:spPr>
          <a:xfrm>
            <a:off x="4754880" y="329184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⑥</a:t>
            </a:r>
            <a:endParaRPr lang="en-US" sz="900" dirty="0"/>
          </a:p>
        </p:txBody>
      </p:sp>
      <p:sp>
        <p:nvSpPr>
          <p:cNvPr id="47" name="Text 45"/>
          <p:cNvSpPr/>
          <p:nvPr/>
        </p:nvSpPr>
        <p:spPr>
          <a:xfrm>
            <a:off x="5166360" y="3090672"/>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Infinite tool loop</a:t>
            </a:r>
            <a:endParaRPr lang="en-US" sz="1050" dirty="0"/>
          </a:p>
        </p:txBody>
      </p:sp>
      <p:sp>
        <p:nvSpPr>
          <p:cNvPr id="48" name="Shape 46"/>
          <p:cNvSpPr/>
          <p:nvPr/>
        </p:nvSpPr>
        <p:spPr>
          <a:xfrm>
            <a:off x="5166360" y="3383280"/>
            <a:ext cx="3657600" cy="0"/>
          </a:xfrm>
          <a:prstGeom prst="line">
            <a:avLst/>
          </a:prstGeom>
          <a:noFill/>
          <a:ln w="6350">
            <a:solidFill>
              <a:srgbClr val="CED4DA"/>
            </a:solidFill>
            <a:prstDash val="solid"/>
          </a:ln>
        </p:spPr>
        <p:txBody>
          <a:bodyPr/>
          <a:lstStyle/>
          <a:p>
            <a:endParaRPr lang="en-US"/>
          </a:p>
        </p:txBody>
      </p:sp>
      <p:sp>
        <p:nvSpPr>
          <p:cNvPr id="49" name="Shape 47"/>
          <p:cNvSpPr/>
          <p:nvPr/>
        </p:nvSpPr>
        <p:spPr>
          <a:xfrm>
            <a:off x="5166360" y="3511296"/>
            <a:ext cx="256032" cy="256032"/>
          </a:xfrm>
          <a:prstGeom prst="ellipse">
            <a:avLst/>
          </a:prstGeom>
          <a:solidFill>
            <a:srgbClr val="2F9E44"/>
          </a:solidFill>
          <a:ln w="12700">
            <a:solidFill>
              <a:srgbClr val="2F9E44"/>
            </a:solidFill>
            <a:prstDash val="solid"/>
          </a:ln>
        </p:spPr>
        <p:txBody>
          <a:bodyPr/>
          <a:lstStyle/>
          <a:p>
            <a:endParaRPr lang="en-US"/>
          </a:p>
        </p:txBody>
      </p:sp>
      <p:sp>
        <p:nvSpPr>
          <p:cNvPr id="50" name="Text 48"/>
          <p:cNvSpPr/>
          <p:nvPr/>
        </p:nvSpPr>
        <p:spPr>
          <a:xfrm>
            <a:off x="5166360" y="3511296"/>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1" name="Text 49"/>
          <p:cNvSpPr/>
          <p:nvPr/>
        </p:nvSpPr>
        <p:spPr>
          <a:xfrm>
            <a:off x="5486400" y="3474720"/>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Agent Runtime enforces recursion limits and stop conditions; Agent Optimizer flags looping patterns</a:t>
            </a:r>
            <a:endParaRPr lang="en-US" sz="950" dirty="0"/>
          </a:p>
        </p:txBody>
      </p:sp>
      <p:sp>
        <p:nvSpPr>
          <p:cNvPr id="52" name="Shape 50"/>
          <p:cNvSpPr/>
          <p:nvPr/>
        </p:nvSpPr>
        <p:spPr>
          <a:xfrm>
            <a:off x="274320" y="4059936"/>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53" name="Shape 51"/>
          <p:cNvSpPr/>
          <p:nvPr/>
        </p:nvSpPr>
        <p:spPr>
          <a:xfrm>
            <a:off x="365760" y="4315968"/>
            <a:ext cx="329184" cy="329184"/>
          </a:xfrm>
          <a:prstGeom prst="ellipse">
            <a:avLst/>
          </a:prstGeom>
          <a:solidFill>
            <a:srgbClr val="C92A2A"/>
          </a:solidFill>
          <a:ln w="12700">
            <a:solidFill>
              <a:srgbClr val="C92A2A"/>
            </a:solidFill>
            <a:prstDash val="solid"/>
          </a:ln>
        </p:spPr>
        <p:txBody>
          <a:bodyPr/>
          <a:lstStyle/>
          <a:p>
            <a:endParaRPr lang="en-US"/>
          </a:p>
        </p:txBody>
      </p:sp>
      <p:sp>
        <p:nvSpPr>
          <p:cNvPr id="54" name="Text 52"/>
          <p:cNvSpPr/>
          <p:nvPr/>
        </p:nvSpPr>
        <p:spPr>
          <a:xfrm>
            <a:off x="365760" y="4315968"/>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⑦</a:t>
            </a:r>
            <a:endParaRPr lang="en-US" sz="900" dirty="0"/>
          </a:p>
        </p:txBody>
      </p:sp>
      <p:sp>
        <p:nvSpPr>
          <p:cNvPr id="55" name="Text 53"/>
          <p:cNvSpPr/>
          <p:nvPr/>
        </p:nvSpPr>
        <p:spPr>
          <a:xfrm>
            <a:off x="777240" y="4114800"/>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Memory store unavailable</a:t>
            </a:r>
            <a:endParaRPr lang="en-US" sz="1050" dirty="0"/>
          </a:p>
        </p:txBody>
      </p:sp>
      <p:sp>
        <p:nvSpPr>
          <p:cNvPr id="56" name="Shape 54"/>
          <p:cNvSpPr/>
          <p:nvPr/>
        </p:nvSpPr>
        <p:spPr>
          <a:xfrm>
            <a:off x="777240" y="4407408"/>
            <a:ext cx="3657600" cy="0"/>
          </a:xfrm>
          <a:prstGeom prst="line">
            <a:avLst/>
          </a:prstGeom>
          <a:noFill/>
          <a:ln w="6350">
            <a:solidFill>
              <a:srgbClr val="CED4DA"/>
            </a:solidFill>
            <a:prstDash val="solid"/>
          </a:ln>
        </p:spPr>
        <p:txBody>
          <a:bodyPr/>
          <a:lstStyle/>
          <a:p>
            <a:endParaRPr lang="en-US"/>
          </a:p>
        </p:txBody>
      </p:sp>
      <p:sp>
        <p:nvSpPr>
          <p:cNvPr id="57" name="Shape 55"/>
          <p:cNvSpPr/>
          <p:nvPr/>
        </p:nvSpPr>
        <p:spPr>
          <a:xfrm>
            <a:off x="777240" y="4535424"/>
            <a:ext cx="256032" cy="256032"/>
          </a:xfrm>
          <a:prstGeom prst="ellipse">
            <a:avLst/>
          </a:prstGeom>
          <a:solidFill>
            <a:srgbClr val="2F9E44"/>
          </a:solidFill>
          <a:ln w="12700">
            <a:solidFill>
              <a:srgbClr val="2F9E44"/>
            </a:solidFill>
            <a:prstDash val="solid"/>
          </a:ln>
        </p:spPr>
        <p:txBody>
          <a:bodyPr/>
          <a:lstStyle/>
          <a:p>
            <a:endParaRPr lang="en-US"/>
          </a:p>
        </p:txBody>
      </p:sp>
      <p:sp>
        <p:nvSpPr>
          <p:cNvPr id="58" name="Text 56"/>
          <p:cNvSpPr/>
          <p:nvPr/>
        </p:nvSpPr>
        <p:spPr>
          <a:xfrm>
            <a:off x="777240" y="4535424"/>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9" name="Text 57"/>
          <p:cNvSpPr/>
          <p:nvPr/>
        </p:nvSpPr>
        <p:spPr>
          <a:xfrm>
            <a:off x="1097280" y="4498848"/>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Zone-redundant Cosmos DB + Azure AI Search; BYO resources for compliance; session state checkpointed</a:t>
            </a:r>
            <a:endParaRPr lang="en-US" sz="950" dirty="0"/>
          </a:p>
        </p:txBody>
      </p:sp>
      <p:sp>
        <p:nvSpPr>
          <p:cNvPr id="60" name="Shape 58"/>
          <p:cNvSpPr/>
          <p:nvPr/>
        </p:nvSpPr>
        <p:spPr>
          <a:xfrm>
            <a:off x="4663440" y="4059936"/>
            <a:ext cx="4251960" cy="914400"/>
          </a:xfrm>
          <a:prstGeom prst="roundRect">
            <a:avLst>
              <a:gd name="adj" fmla="val 8000"/>
            </a:avLst>
          </a:prstGeom>
          <a:solidFill>
            <a:srgbClr val="F8F9FA"/>
          </a:solidFill>
          <a:ln w="12700">
            <a:solidFill>
              <a:srgbClr val="CED4DA"/>
            </a:solidFill>
            <a:prstDash val="solid"/>
          </a:ln>
          <a:effectLst>
            <a:outerShdw blurRad="50800" dist="25400" dir="2700000" algn="bl" rotWithShape="0">
              <a:srgbClr val="000000">
                <a:alpha val="13000"/>
              </a:srgbClr>
            </a:outerShdw>
          </a:effectLst>
        </p:spPr>
        <p:txBody>
          <a:bodyPr/>
          <a:lstStyle/>
          <a:p>
            <a:endParaRPr lang="en-US"/>
          </a:p>
        </p:txBody>
      </p:sp>
      <p:sp>
        <p:nvSpPr>
          <p:cNvPr id="61" name="Shape 59"/>
          <p:cNvSpPr/>
          <p:nvPr/>
        </p:nvSpPr>
        <p:spPr>
          <a:xfrm>
            <a:off x="4754880" y="4315968"/>
            <a:ext cx="329184" cy="329184"/>
          </a:xfrm>
          <a:prstGeom prst="ellipse">
            <a:avLst/>
          </a:prstGeom>
          <a:solidFill>
            <a:srgbClr val="C92A2A"/>
          </a:solidFill>
          <a:ln w="12700">
            <a:solidFill>
              <a:srgbClr val="C92A2A"/>
            </a:solidFill>
            <a:prstDash val="solid"/>
          </a:ln>
        </p:spPr>
        <p:txBody>
          <a:bodyPr/>
          <a:lstStyle/>
          <a:p>
            <a:endParaRPr lang="en-US"/>
          </a:p>
        </p:txBody>
      </p:sp>
      <p:sp>
        <p:nvSpPr>
          <p:cNvPr id="62" name="Text 60"/>
          <p:cNvSpPr/>
          <p:nvPr/>
        </p:nvSpPr>
        <p:spPr>
          <a:xfrm>
            <a:off x="4754880" y="4315968"/>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⑧</a:t>
            </a:r>
            <a:endParaRPr lang="en-US" sz="900" dirty="0"/>
          </a:p>
        </p:txBody>
      </p:sp>
      <p:sp>
        <p:nvSpPr>
          <p:cNvPr id="63" name="Text 61"/>
          <p:cNvSpPr/>
          <p:nvPr/>
        </p:nvSpPr>
        <p:spPr>
          <a:xfrm>
            <a:off x="5166360" y="4114800"/>
            <a:ext cx="3657600" cy="274320"/>
          </a:xfrm>
          <a:prstGeom prst="rect">
            <a:avLst/>
          </a:prstGeom>
          <a:noFill/>
          <a:ln/>
        </p:spPr>
        <p:txBody>
          <a:bodyPr wrap="square" rtlCol="0" anchor="ctr"/>
          <a:lstStyle/>
          <a:p>
            <a:pPr marL="0" indent="0">
              <a:buNone/>
            </a:pPr>
            <a:r>
              <a:rPr lang="en-US" sz="1050" b="1" dirty="0">
                <a:solidFill>
                  <a:srgbClr val="343A40"/>
                </a:solidFill>
                <a:latin typeface="Calibri" pitchFamily="34" charset="0"/>
                <a:ea typeface="Calibri" pitchFamily="34" charset="-122"/>
                <a:cs typeface="Calibri" pitchFamily="34" charset="-120"/>
              </a:rPr>
              <a:t>Sub-agent crash / A2A failure</a:t>
            </a:r>
            <a:endParaRPr lang="en-US" sz="1050" dirty="0"/>
          </a:p>
        </p:txBody>
      </p:sp>
      <p:sp>
        <p:nvSpPr>
          <p:cNvPr id="64" name="Shape 62"/>
          <p:cNvSpPr/>
          <p:nvPr/>
        </p:nvSpPr>
        <p:spPr>
          <a:xfrm>
            <a:off x="5166360" y="4407408"/>
            <a:ext cx="3657600" cy="0"/>
          </a:xfrm>
          <a:prstGeom prst="line">
            <a:avLst/>
          </a:prstGeom>
          <a:noFill/>
          <a:ln w="6350">
            <a:solidFill>
              <a:srgbClr val="CED4DA"/>
            </a:solidFill>
            <a:prstDash val="solid"/>
          </a:ln>
        </p:spPr>
        <p:txBody>
          <a:bodyPr/>
          <a:lstStyle/>
          <a:p>
            <a:endParaRPr lang="en-US"/>
          </a:p>
        </p:txBody>
      </p:sp>
      <p:sp>
        <p:nvSpPr>
          <p:cNvPr id="65" name="Shape 63"/>
          <p:cNvSpPr/>
          <p:nvPr/>
        </p:nvSpPr>
        <p:spPr>
          <a:xfrm>
            <a:off x="5166360" y="4535424"/>
            <a:ext cx="256032" cy="256032"/>
          </a:xfrm>
          <a:prstGeom prst="ellipse">
            <a:avLst/>
          </a:prstGeom>
          <a:solidFill>
            <a:srgbClr val="2F9E44"/>
          </a:solidFill>
          <a:ln w="12700">
            <a:solidFill>
              <a:srgbClr val="2F9E44"/>
            </a:solidFill>
            <a:prstDash val="solid"/>
          </a:ln>
        </p:spPr>
        <p:txBody>
          <a:bodyPr/>
          <a:lstStyle/>
          <a:p>
            <a:endParaRPr lang="en-US"/>
          </a:p>
        </p:txBody>
      </p:sp>
      <p:sp>
        <p:nvSpPr>
          <p:cNvPr id="66" name="Text 64"/>
          <p:cNvSpPr/>
          <p:nvPr/>
        </p:nvSpPr>
        <p:spPr>
          <a:xfrm>
            <a:off x="5166360" y="4535424"/>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7" name="Text 65"/>
          <p:cNvSpPr/>
          <p:nvPr/>
        </p:nvSpPr>
        <p:spPr>
          <a:xfrm>
            <a:off x="5486400" y="4498848"/>
            <a:ext cx="3337560" cy="438912"/>
          </a:xfrm>
          <a:prstGeom prst="rect">
            <a:avLst/>
          </a:prstGeom>
          <a:noFill/>
          <a:ln/>
        </p:spPr>
        <p:txBody>
          <a:bodyPr wrap="square" rtlCol="0" anchor="t"/>
          <a:lstStyle/>
          <a:p>
            <a:pPr marL="0" indent="0">
              <a:buNone/>
            </a:pPr>
            <a:r>
              <a:rPr lang="en-US" sz="950" dirty="0">
                <a:solidFill>
                  <a:srgbClr val="343A40"/>
                </a:solidFill>
                <a:latin typeface="Calibri" pitchFamily="34" charset="0"/>
                <a:ea typeface="Calibri" pitchFamily="34" charset="-122"/>
                <a:cs typeface="Calibri" pitchFamily="34" charset="-120"/>
              </a:rPr>
              <a:t>Hosted agents run in isolated VM sandboxes with independent scaling; A2A returns structured error responses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38912"/>
          </a:xfrm>
          <a:prstGeom prst="rect">
            <a:avLst/>
          </a:prstGeom>
          <a:noFill/>
          <a:ln/>
        </p:spPr>
        <p:txBody>
          <a:bodyPr wrap="square" rtlCol="0" anchor="ctr"/>
          <a:lstStyle/>
          <a:p>
            <a:pPr marL="0" indent="0">
              <a:buNone/>
            </a:pPr>
            <a:r>
              <a:rPr lang="en-US" sz="2700" b="1" dirty="0">
                <a:solidFill>
                  <a:srgbClr val="1E2761"/>
                </a:solidFill>
                <a:latin typeface="Calibri" pitchFamily="34" charset="0"/>
                <a:ea typeface="Calibri" pitchFamily="34" charset="-122"/>
                <a:cs typeface="Calibri" pitchFamily="34" charset="-120"/>
              </a:rPr>
              <a:t>Dapr Agents: When You Host on AKS</a:t>
            </a:r>
            <a:endParaRPr lang="en-US" sz="2700" dirty="0"/>
          </a:p>
        </p:txBody>
      </p:sp>
      <p:sp>
        <p:nvSpPr>
          <p:cNvPr id="3" name="Text 1"/>
          <p:cNvSpPr/>
          <p:nvPr/>
        </p:nvSpPr>
        <p:spPr>
          <a:xfrm>
            <a:off x="365760" y="594360"/>
            <a:ext cx="8412480" cy="256032"/>
          </a:xfrm>
          <a:prstGeom prst="rect">
            <a:avLst/>
          </a:prstGeom>
          <a:noFill/>
          <a:ln/>
        </p:spPr>
        <p:txBody>
          <a:bodyPr wrap="square" rtlCol="0" anchor="ctr"/>
          <a:lstStyle/>
          <a:p>
            <a:pPr marL="0" indent="0">
              <a:buNone/>
            </a:pPr>
            <a:r>
              <a:rPr lang="en-US" sz="1300" i="1" dirty="0">
                <a:solidFill>
                  <a:srgbClr val="868E96"/>
                </a:solidFill>
                <a:latin typeface="Calibri" pitchFamily="34" charset="0"/>
                <a:ea typeface="Calibri" pitchFamily="34" charset="-122"/>
                <a:cs typeface="Calibri" pitchFamily="34" charset="-120"/>
              </a:rPr>
              <a:t>Dapr Agents is the self-hosted answer — same distributed-systems guarantees, fully on your infrastructure</a:t>
            </a:r>
            <a:endParaRPr lang="en-US" sz="1300" dirty="0"/>
          </a:p>
        </p:txBody>
      </p:sp>
      <p:sp>
        <p:nvSpPr>
          <p:cNvPr id="4" name="Shape 2"/>
          <p:cNvSpPr/>
          <p:nvPr/>
        </p:nvSpPr>
        <p:spPr>
          <a:xfrm>
            <a:off x="274320" y="886968"/>
            <a:ext cx="8595360" cy="621792"/>
          </a:xfrm>
          <a:prstGeom prst="roundRect">
            <a:avLst>
              <a:gd name="adj" fmla="val 11765"/>
            </a:avLst>
          </a:prstGeom>
          <a:solidFill>
            <a:srgbClr val="EEF6FF"/>
          </a:solidFill>
          <a:ln w="12700">
            <a:solidFill>
              <a:srgbClr val="1971C2"/>
            </a:solidFill>
            <a:prstDash val="solid"/>
          </a:ln>
        </p:spPr>
        <p:txBody>
          <a:bodyPr/>
          <a:lstStyle/>
          <a:p>
            <a:endParaRPr lang="en-US"/>
          </a:p>
        </p:txBody>
      </p:sp>
      <p:sp>
        <p:nvSpPr>
          <p:cNvPr id="5" name="Text 3"/>
          <p:cNvSpPr/>
          <p:nvPr/>
        </p:nvSpPr>
        <p:spPr>
          <a:xfrm>
            <a:off x="457200" y="886968"/>
            <a:ext cx="8321040" cy="621792"/>
          </a:xfrm>
          <a:prstGeom prst="rect">
            <a:avLst/>
          </a:prstGeom>
          <a:noFill/>
          <a:ln/>
        </p:spPr>
        <p:txBody>
          <a:bodyPr wrap="square" lIns="50800" tIns="50800" rIns="50800" bIns="50800" rtlCol="0" anchor="ctr"/>
          <a:lstStyle/>
          <a:p>
            <a:pPr marL="0" indent="0">
              <a:buNone/>
            </a:pPr>
            <a:r>
              <a:rPr lang="en-US" sz="1050" dirty="0">
                <a:solidFill>
                  <a:srgbClr val="343A40"/>
                </a:solidFill>
                <a:latin typeface="Calibri" pitchFamily="34" charset="0"/>
                <a:ea typeface="Calibri" pitchFamily="34" charset="-122"/>
                <a:cs typeface="Calibri" pitchFamily="34" charset="-120"/>
              </a:rPr>
              <a:t>Dapr Agents (CNCF / v1.0 / open-source) builds on Dapr's distributed-systems runtime — durable workflows, pub/sub messaging, virtual actor model, state management, and 50+ component connectors — giving you an enterprise-grade agent harness on any Kubernetes cluster.</a:t>
            </a:r>
            <a:endParaRPr lang="en-US" sz="1050" dirty="0"/>
          </a:p>
        </p:txBody>
      </p:sp>
      <p:sp>
        <p:nvSpPr>
          <p:cNvPr id="6" name="Shape 4"/>
          <p:cNvSpPr/>
          <p:nvPr/>
        </p:nvSpPr>
        <p:spPr>
          <a:xfrm>
            <a:off x="274320" y="1581912"/>
            <a:ext cx="4160520" cy="384048"/>
          </a:xfrm>
          <a:prstGeom prst="roundRect">
            <a:avLst>
              <a:gd name="adj" fmla="val 19048"/>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274320" y="158191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AKS + Dapr Agents  (Self-Hosted)</a:t>
            </a:r>
            <a:endParaRPr lang="en-US" sz="1300" dirty="0"/>
          </a:p>
        </p:txBody>
      </p:sp>
      <p:sp>
        <p:nvSpPr>
          <p:cNvPr id="8" name="Shape 6"/>
          <p:cNvSpPr/>
          <p:nvPr/>
        </p:nvSpPr>
        <p:spPr>
          <a:xfrm>
            <a:off x="4709160" y="1581912"/>
            <a:ext cx="4160520" cy="384048"/>
          </a:xfrm>
          <a:prstGeom prst="roundRect">
            <a:avLst>
              <a:gd name="adj" fmla="val 19048"/>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4709160" y="158191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Foundry Hosted Agents  (Managed)</a:t>
            </a:r>
            <a:endParaRPr lang="en-US" sz="1300" dirty="0"/>
          </a:p>
        </p:txBody>
      </p:sp>
      <p:sp>
        <p:nvSpPr>
          <p:cNvPr id="10" name="Shape 8"/>
          <p:cNvSpPr/>
          <p:nvPr/>
        </p:nvSpPr>
        <p:spPr>
          <a:xfrm>
            <a:off x="4233672" y="1627632"/>
            <a:ext cx="402336" cy="310896"/>
          </a:xfrm>
          <a:prstGeom prst="ellipse">
            <a:avLst/>
          </a:prstGeom>
          <a:solidFill>
            <a:srgbClr val="E8590C"/>
          </a:solidFill>
          <a:ln w="12700">
            <a:solidFill>
              <a:srgbClr val="E8590C"/>
            </a:solidFill>
            <a:prstDash val="solid"/>
          </a:ln>
        </p:spPr>
        <p:txBody>
          <a:bodyPr/>
          <a:lstStyle/>
          <a:p>
            <a:endParaRPr lang="en-US"/>
          </a:p>
        </p:txBody>
      </p:sp>
      <p:sp>
        <p:nvSpPr>
          <p:cNvPr id="11" name="Text 9"/>
          <p:cNvSpPr/>
          <p:nvPr/>
        </p:nvSpPr>
        <p:spPr>
          <a:xfrm>
            <a:off x="4233672" y="1627632"/>
            <a:ext cx="40233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vs</a:t>
            </a:r>
            <a:endParaRPr lang="en-US" sz="1000" dirty="0"/>
          </a:p>
        </p:txBody>
      </p:sp>
      <p:sp>
        <p:nvSpPr>
          <p:cNvPr id="12" name="Shape 10"/>
          <p:cNvSpPr/>
          <p:nvPr/>
        </p:nvSpPr>
        <p:spPr>
          <a:xfrm>
            <a:off x="274320" y="2029968"/>
            <a:ext cx="4160520" cy="329184"/>
          </a:xfrm>
          <a:prstGeom prst="roundRect">
            <a:avLst/>
          </a:prstGeom>
          <a:solidFill>
            <a:srgbClr val="FFFFFF"/>
          </a:solidFill>
          <a:ln w="6350">
            <a:solidFill>
              <a:srgbClr val="CED4DA"/>
            </a:solidFill>
            <a:prstDash val="solid"/>
          </a:ln>
        </p:spPr>
        <p:txBody>
          <a:bodyPr/>
          <a:lstStyle/>
          <a:p>
            <a:endParaRPr lang="en-US"/>
          </a:p>
        </p:txBody>
      </p:sp>
      <p:sp>
        <p:nvSpPr>
          <p:cNvPr id="13" name="Text 11"/>
          <p:cNvSpPr/>
          <p:nvPr/>
        </p:nvSpPr>
        <p:spPr>
          <a:xfrm>
            <a:off x="347472" y="2029968"/>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Full infra control — runs on any K8s cluster, any cloud or on-prem</a:t>
            </a:r>
            <a:endParaRPr lang="en-US" sz="950" dirty="0"/>
          </a:p>
        </p:txBody>
      </p:sp>
      <p:sp>
        <p:nvSpPr>
          <p:cNvPr id="14" name="Shape 12"/>
          <p:cNvSpPr/>
          <p:nvPr/>
        </p:nvSpPr>
        <p:spPr>
          <a:xfrm>
            <a:off x="4709160" y="2029968"/>
            <a:ext cx="4160520" cy="329184"/>
          </a:xfrm>
          <a:prstGeom prst="roundRect">
            <a:avLst/>
          </a:prstGeom>
          <a:solidFill>
            <a:srgbClr val="FFFFFF"/>
          </a:solidFill>
          <a:ln w="6350">
            <a:solidFill>
              <a:srgbClr val="CED4DA"/>
            </a:solidFill>
            <a:prstDash val="solid"/>
          </a:ln>
        </p:spPr>
        <p:txBody>
          <a:bodyPr/>
          <a:lstStyle/>
          <a:p>
            <a:endParaRPr lang="en-US"/>
          </a:p>
        </p:txBody>
      </p:sp>
      <p:sp>
        <p:nvSpPr>
          <p:cNvPr id="15" name="Text 13"/>
          <p:cNvSpPr/>
          <p:nvPr/>
        </p:nvSpPr>
        <p:spPr>
          <a:xfrm>
            <a:off x="4782312" y="2029968"/>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Zero infra to manage — Foundry runs compute, scaling, networking</a:t>
            </a:r>
            <a:endParaRPr lang="en-US" sz="950" dirty="0"/>
          </a:p>
        </p:txBody>
      </p:sp>
      <p:sp>
        <p:nvSpPr>
          <p:cNvPr id="16" name="Shape 14"/>
          <p:cNvSpPr/>
          <p:nvPr/>
        </p:nvSpPr>
        <p:spPr>
          <a:xfrm>
            <a:off x="274320" y="2368296"/>
            <a:ext cx="4160520" cy="329184"/>
          </a:xfrm>
          <a:prstGeom prst="roundRect">
            <a:avLst/>
          </a:prstGeom>
          <a:solidFill>
            <a:srgbClr val="F8F9FA"/>
          </a:solidFill>
          <a:ln w="6350">
            <a:solidFill>
              <a:srgbClr val="CED4DA"/>
            </a:solidFill>
            <a:prstDash val="solid"/>
          </a:ln>
        </p:spPr>
        <p:txBody>
          <a:bodyPr/>
          <a:lstStyle/>
          <a:p>
            <a:endParaRPr lang="en-US"/>
          </a:p>
        </p:txBody>
      </p:sp>
      <p:sp>
        <p:nvSpPr>
          <p:cNvPr id="17" name="Text 15"/>
          <p:cNvSpPr/>
          <p:nvPr/>
        </p:nvSpPr>
        <p:spPr>
          <a:xfrm>
            <a:off x="347472" y="2368296"/>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Virtual actor model → scale-to-zero; thousands of idle agents at near-zero cost</a:t>
            </a:r>
            <a:endParaRPr lang="en-US" sz="950" dirty="0"/>
          </a:p>
        </p:txBody>
      </p:sp>
      <p:sp>
        <p:nvSpPr>
          <p:cNvPr id="18" name="Shape 16"/>
          <p:cNvSpPr/>
          <p:nvPr/>
        </p:nvSpPr>
        <p:spPr>
          <a:xfrm>
            <a:off x="4709160" y="2368296"/>
            <a:ext cx="4160520" cy="329184"/>
          </a:xfrm>
          <a:prstGeom prst="roundRect">
            <a:avLst/>
          </a:prstGeom>
          <a:solidFill>
            <a:srgbClr val="F8F9FA"/>
          </a:solidFill>
          <a:ln w="6350">
            <a:solidFill>
              <a:srgbClr val="CED4DA"/>
            </a:solidFill>
            <a:prstDash val="solid"/>
          </a:ln>
        </p:spPr>
        <p:txBody>
          <a:bodyPr/>
          <a:lstStyle/>
          <a:p>
            <a:endParaRPr lang="en-US"/>
          </a:p>
        </p:txBody>
      </p:sp>
      <p:sp>
        <p:nvSpPr>
          <p:cNvPr id="19" name="Text 17"/>
          <p:cNvSpPr/>
          <p:nvPr/>
        </p:nvSpPr>
        <p:spPr>
          <a:xfrm>
            <a:off x="4782312" y="2368296"/>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Auto-scale per session volume; per-call billing for prompt agents</a:t>
            </a:r>
            <a:endParaRPr lang="en-US" sz="950" dirty="0"/>
          </a:p>
        </p:txBody>
      </p:sp>
      <p:sp>
        <p:nvSpPr>
          <p:cNvPr id="20" name="Shape 18"/>
          <p:cNvSpPr/>
          <p:nvPr/>
        </p:nvSpPr>
        <p:spPr>
          <a:xfrm>
            <a:off x="274320" y="2706624"/>
            <a:ext cx="4160520" cy="329184"/>
          </a:xfrm>
          <a:prstGeom prst="roundRect">
            <a:avLst/>
          </a:prstGeom>
          <a:solidFill>
            <a:srgbClr val="FFFFFF"/>
          </a:solidFill>
          <a:ln w="6350">
            <a:solidFill>
              <a:srgbClr val="CED4DA"/>
            </a:solidFill>
            <a:prstDash val="solid"/>
          </a:ln>
        </p:spPr>
        <p:txBody>
          <a:bodyPr/>
          <a:lstStyle/>
          <a:p>
            <a:endParaRPr lang="en-US"/>
          </a:p>
        </p:txBody>
      </p:sp>
      <p:sp>
        <p:nvSpPr>
          <p:cNvPr id="21" name="Text 19"/>
          <p:cNvSpPr/>
          <p:nvPr/>
        </p:nvSpPr>
        <p:spPr>
          <a:xfrm>
            <a:off x="347472" y="2706624"/>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Durable workflows: checkpointed, resumable after any crash or node failure</a:t>
            </a:r>
            <a:endParaRPr lang="en-US" sz="950" dirty="0"/>
          </a:p>
        </p:txBody>
      </p:sp>
      <p:sp>
        <p:nvSpPr>
          <p:cNvPr id="22" name="Shape 20"/>
          <p:cNvSpPr/>
          <p:nvPr/>
        </p:nvSpPr>
        <p:spPr>
          <a:xfrm>
            <a:off x="4709160" y="2706624"/>
            <a:ext cx="4160520" cy="329184"/>
          </a:xfrm>
          <a:prstGeom prst="roundRect">
            <a:avLst/>
          </a:prstGeom>
          <a:solidFill>
            <a:srgbClr val="FFFFFF"/>
          </a:solidFill>
          <a:ln w="6350">
            <a:solidFill>
              <a:srgbClr val="CED4DA"/>
            </a:solidFill>
            <a:prstDash val="solid"/>
          </a:ln>
        </p:spPr>
        <p:txBody>
          <a:bodyPr/>
          <a:lstStyle/>
          <a:p>
            <a:endParaRPr lang="en-US"/>
          </a:p>
        </p:txBody>
      </p:sp>
      <p:sp>
        <p:nvSpPr>
          <p:cNvPr id="23" name="Text 21"/>
          <p:cNvSpPr/>
          <p:nvPr/>
        </p:nvSpPr>
        <p:spPr>
          <a:xfrm>
            <a:off x="4782312" y="2706624"/>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Built-in session persistence and long-running agent support</a:t>
            </a:r>
            <a:endParaRPr lang="en-US" sz="950" dirty="0"/>
          </a:p>
        </p:txBody>
      </p:sp>
      <p:sp>
        <p:nvSpPr>
          <p:cNvPr id="24" name="Shape 22"/>
          <p:cNvSpPr/>
          <p:nvPr/>
        </p:nvSpPr>
        <p:spPr>
          <a:xfrm>
            <a:off x="274320" y="3044952"/>
            <a:ext cx="4160520" cy="329184"/>
          </a:xfrm>
          <a:prstGeom prst="roundRect">
            <a:avLst/>
          </a:prstGeom>
          <a:solidFill>
            <a:srgbClr val="F8F9FA"/>
          </a:solidFill>
          <a:ln w="6350">
            <a:solidFill>
              <a:srgbClr val="CED4DA"/>
            </a:solidFill>
            <a:prstDash val="solid"/>
          </a:ln>
        </p:spPr>
        <p:txBody>
          <a:bodyPr/>
          <a:lstStyle/>
          <a:p>
            <a:endParaRPr lang="en-US"/>
          </a:p>
        </p:txBody>
      </p:sp>
      <p:sp>
        <p:nvSpPr>
          <p:cNvPr id="25" name="Text 23"/>
          <p:cNvSpPr/>
          <p:nvPr/>
        </p:nvSpPr>
        <p:spPr>
          <a:xfrm>
            <a:off x="347472" y="3044952"/>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Pub/Sub event-driven messaging between agents (Kafka, Redis, Azure SB, etc.)</a:t>
            </a:r>
            <a:endParaRPr lang="en-US" sz="950" dirty="0"/>
          </a:p>
        </p:txBody>
      </p:sp>
      <p:sp>
        <p:nvSpPr>
          <p:cNvPr id="26" name="Shape 24"/>
          <p:cNvSpPr/>
          <p:nvPr/>
        </p:nvSpPr>
        <p:spPr>
          <a:xfrm>
            <a:off x="4709160" y="3044952"/>
            <a:ext cx="4160520" cy="329184"/>
          </a:xfrm>
          <a:prstGeom prst="roundRect">
            <a:avLst/>
          </a:prstGeom>
          <a:solidFill>
            <a:srgbClr val="F8F9FA"/>
          </a:solidFill>
          <a:ln w="6350">
            <a:solidFill>
              <a:srgbClr val="CED4DA"/>
            </a:solidFill>
            <a:prstDash val="solid"/>
          </a:ln>
        </p:spPr>
        <p:txBody>
          <a:bodyPr/>
          <a:lstStyle/>
          <a:p>
            <a:endParaRPr lang="en-US"/>
          </a:p>
        </p:txBody>
      </p:sp>
      <p:sp>
        <p:nvSpPr>
          <p:cNvPr id="27" name="Text 25"/>
          <p:cNvSpPr/>
          <p:nvPr/>
        </p:nvSpPr>
        <p:spPr>
          <a:xfrm>
            <a:off x="4782312" y="3044952"/>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A2A protocol for structured agent-to-agent handoff and routing</a:t>
            </a:r>
            <a:endParaRPr lang="en-US" sz="950" dirty="0"/>
          </a:p>
        </p:txBody>
      </p:sp>
      <p:sp>
        <p:nvSpPr>
          <p:cNvPr id="28" name="Shape 26"/>
          <p:cNvSpPr/>
          <p:nvPr/>
        </p:nvSpPr>
        <p:spPr>
          <a:xfrm>
            <a:off x="274320" y="3383280"/>
            <a:ext cx="4160520" cy="329184"/>
          </a:xfrm>
          <a:prstGeom prst="roundRect">
            <a:avLst/>
          </a:prstGeom>
          <a:solidFill>
            <a:srgbClr val="FFFFFF"/>
          </a:solidFill>
          <a:ln w="6350">
            <a:solidFill>
              <a:srgbClr val="CED4DA"/>
            </a:solidFill>
            <a:prstDash val="solid"/>
          </a:ln>
        </p:spPr>
        <p:txBody>
          <a:bodyPr/>
          <a:lstStyle/>
          <a:p>
            <a:endParaRPr lang="en-US"/>
          </a:p>
        </p:txBody>
      </p:sp>
      <p:sp>
        <p:nvSpPr>
          <p:cNvPr id="29" name="Text 27"/>
          <p:cNvSpPr/>
          <p:nvPr/>
        </p:nvSpPr>
        <p:spPr>
          <a:xfrm>
            <a:off x="347472" y="3383280"/>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Vendor-neutral (CNCF); swap LLM, state store, or message bus without code change</a:t>
            </a:r>
            <a:endParaRPr lang="en-US" sz="950" dirty="0"/>
          </a:p>
        </p:txBody>
      </p:sp>
      <p:sp>
        <p:nvSpPr>
          <p:cNvPr id="30" name="Shape 28"/>
          <p:cNvSpPr/>
          <p:nvPr/>
        </p:nvSpPr>
        <p:spPr>
          <a:xfrm>
            <a:off x="4709160" y="3383280"/>
            <a:ext cx="4160520" cy="329184"/>
          </a:xfrm>
          <a:prstGeom prst="roundRect">
            <a:avLst/>
          </a:prstGeom>
          <a:solidFill>
            <a:srgbClr val="FFFFFF"/>
          </a:solidFill>
          <a:ln w="6350">
            <a:solidFill>
              <a:srgbClr val="CED4DA"/>
            </a:solidFill>
            <a:prstDash val="solid"/>
          </a:ln>
        </p:spPr>
        <p:txBody>
          <a:bodyPr/>
          <a:lstStyle/>
          <a:p>
            <a:endParaRPr lang="en-US"/>
          </a:p>
        </p:txBody>
      </p:sp>
      <p:sp>
        <p:nvSpPr>
          <p:cNvPr id="31" name="Text 29"/>
          <p:cNvSpPr/>
          <p:nvPr/>
        </p:nvSpPr>
        <p:spPr>
          <a:xfrm>
            <a:off x="4782312" y="3383280"/>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Multi-model catalog (GPT-4o, Llama, DeepSeek); swap model without code change</a:t>
            </a:r>
            <a:endParaRPr lang="en-US" sz="950" dirty="0"/>
          </a:p>
        </p:txBody>
      </p:sp>
      <p:sp>
        <p:nvSpPr>
          <p:cNvPr id="32" name="Shape 30"/>
          <p:cNvSpPr/>
          <p:nvPr/>
        </p:nvSpPr>
        <p:spPr>
          <a:xfrm>
            <a:off x="274320" y="3721608"/>
            <a:ext cx="4160520" cy="329184"/>
          </a:xfrm>
          <a:prstGeom prst="roundRect">
            <a:avLst/>
          </a:prstGeom>
          <a:solidFill>
            <a:srgbClr val="F8F9FA"/>
          </a:solidFill>
          <a:ln w="6350">
            <a:solidFill>
              <a:srgbClr val="CED4DA"/>
            </a:solidFill>
            <a:prstDash val="solid"/>
          </a:ln>
        </p:spPr>
        <p:txBody>
          <a:bodyPr/>
          <a:lstStyle/>
          <a:p>
            <a:endParaRPr lang="en-US"/>
          </a:p>
        </p:txBody>
      </p:sp>
      <p:sp>
        <p:nvSpPr>
          <p:cNvPr id="33" name="Text 31"/>
          <p:cNvSpPr/>
          <p:nvPr/>
        </p:nvSpPr>
        <p:spPr>
          <a:xfrm>
            <a:off x="347472" y="3721608"/>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Resiliency policies: circuit breakers, retry/backoff, timeouts per component</a:t>
            </a:r>
            <a:endParaRPr lang="en-US" sz="950" dirty="0"/>
          </a:p>
        </p:txBody>
      </p:sp>
      <p:sp>
        <p:nvSpPr>
          <p:cNvPr id="34" name="Shape 32"/>
          <p:cNvSpPr/>
          <p:nvPr/>
        </p:nvSpPr>
        <p:spPr>
          <a:xfrm>
            <a:off x="4709160" y="3721608"/>
            <a:ext cx="4160520" cy="329184"/>
          </a:xfrm>
          <a:prstGeom prst="roundRect">
            <a:avLst/>
          </a:prstGeom>
          <a:solidFill>
            <a:srgbClr val="F8F9FA"/>
          </a:solidFill>
          <a:ln w="6350">
            <a:solidFill>
              <a:srgbClr val="CED4DA"/>
            </a:solidFill>
            <a:prstDash val="solid"/>
          </a:ln>
        </p:spPr>
        <p:txBody>
          <a:bodyPr/>
          <a:lstStyle/>
          <a:p>
            <a:endParaRPr lang="en-US"/>
          </a:p>
        </p:txBody>
      </p:sp>
      <p:sp>
        <p:nvSpPr>
          <p:cNvPr id="35" name="Text 33"/>
          <p:cNvSpPr/>
          <p:nvPr/>
        </p:nvSpPr>
        <p:spPr>
          <a:xfrm>
            <a:off x="4782312" y="3721608"/>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Managed retry, multi-region PTU, zone-redundant HA out of the box</a:t>
            </a:r>
            <a:endParaRPr lang="en-US" sz="950" dirty="0"/>
          </a:p>
        </p:txBody>
      </p:sp>
      <p:sp>
        <p:nvSpPr>
          <p:cNvPr id="36" name="Shape 34"/>
          <p:cNvSpPr/>
          <p:nvPr/>
        </p:nvSpPr>
        <p:spPr>
          <a:xfrm>
            <a:off x="274320" y="4059936"/>
            <a:ext cx="4160520" cy="329184"/>
          </a:xfrm>
          <a:prstGeom prst="roundRect">
            <a:avLst/>
          </a:prstGeom>
          <a:solidFill>
            <a:srgbClr val="FFFFFF"/>
          </a:solidFill>
          <a:ln w="6350">
            <a:solidFill>
              <a:srgbClr val="CED4DA"/>
            </a:solidFill>
            <a:prstDash val="solid"/>
          </a:ln>
        </p:spPr>
        <p:txBody>
          <a:bodyPr/>
          <a:lstStyle/>
          <a:p>
            <a:endParaRPr lang="en-US"/>
          </a:p>
        </p:txBody>
      </p:sp>
      <p:sp>
        <p:nvSpPr>
          <p:cNvPr id="37" name="Text 35"/>
          <p:cNvSpPr/>
          <p:nvPr/>
        </p:nvSpPr>
        <p:spPr>
          <a:xfrm>
            <a:off x="347472" y="4059936"/>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50+ Dapr component connectors + MCP support for data ingestion</a:t>
            </a:r>
            <a:endParaRPr lang="en-US" sz="950" dirty="0"/>
          </a:p>
        </p:txBody>
      </p:sp>
      <p:sp>
        <p:nvSpPr>
          <p:cNvPr id="38" name="Shape 36"/>
          <p:cNvSpPr/>
          <p:nvPr/>
        </p:nvSpPr>
        <p:spPr>
          <a:xfrm>
            <a:off x="4709160" y="4059936"/>
            <a:ext cx="4160520" cy="329184"/>
          </a:xfrm>
          <a:prstGeom prst="roundRect">
            <a:avLst/>
          </a:prstGeom>
          <a:solidFill>
            <a:srgbClr val="FFFFFF"/>
          </a:solidFill>
          <a:ln w="6350">
            <a:solidFill>
              <a:srgbClr val="CED4DA"/>
            </a:solidFill>
            <a:prstDash val="solid"/>
          </a:ln>
        </p:spPr>
        <p:txBody>
          <a:bodyPr/>
          <a:lstStyle/>
          <a:p>
            <a:endParaRPr lang="en-US"/>
          </a:p>
        </p:txBody>
      </p:sp>
      <p:sp>
        <p:nvSpPr>
          <p:cNvPr id="39" name="Text 37"/>
          <p:cNvSpPr/>
          <p:nvPr/>
        </p:nvSpPr>
        <p:spPr>
          <a:xfrm>
            <a:off x="4782312" y="4059936"/>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1,400+ MCP tools; Foundry IQ for SharePoint, Fabric, Azure SQL retrieval</a:t>
            </a:r>
            <a:endParaRPr lang="en-US" sz="950" dirty="0"/>
          </a:p>
        </p:txBody>
      </p:sp>
      <p:sp>
        <p:nvSpPr>
          <p:cNvPr id="40" name="Shape 38"/>
          <p:cNvSpPr/>
          <p:nvPr/>
        </p:nvSpPr>
        <p:spPr>
          <a:xfrm>
            <a:off x="274320" y="4398264"/>
            <a:ext cx="4160520" cy="329184"/>
          </a:xfrm>
          <a:prstGeom prst="roundRect">
            <a:avLst/>
          </a:prstGeom>
          <a:solidFill>
            <a:srgbClr val="F8F9FA"/>
          </a:solidFill>
          <a:ln w="6350">
            <a:solidFill>
              <a:srgbClr val="CED4DA"/>
            </a:solidFill>
            <a:prstDash val="solid"/>
          </a:ln>
        </p:spPr>
        <p:txBody>
          <a:bodyPr/>
          <a:lstStyle/>
          <a:p>
            <a:endParaRPr lang="en-US"/>
          </a:p>
        </p:txBody>
      </p:sp>
      <p:sp>
        <p:nvSpPr>
          <p:cNvPr id="41" name="Text 39"/>
          <p:cNvSpPr/>
          <p:nvPr/>
        </p:nvSpPr>
        <p:spPr>
          <a:xfrm>
            <a:off x="347472" y="4398264"/>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DIY identity, networking, secrets; integrate with existing platform team patterns</a:t>
            </a:r>
            <a:endParaRPr lang="en-US" sz="950" dirty="0"/>
          </a:p>
        </p:txBody>
      </p:sp>
      <p:sp>
        <p:nvSpPr>
          <p:cNvPr id="42" name="Shape 40"/>
          <p:cNvSpPr/>
          <p:nvPr/>
        </p:nvSpPr>
        <p:spPr>
          <a:xfrm>
            <a:off x="4709160" y="4398264"/>
            <a:ext cx="4160520" cy="329184"/>
          </a:xfrm>
          <a:prstGeom prst="roundRect">
            <a:avLst/>
          </a:prstGeom>
          <a:solidFill>
            <a:srgbClr val="F8F9FA"/>
          </a:solidFill>
          <a:ln w="6350">
            <a:solidFill>
              <a:srgbClr val="CED4DA"/>
            </a:solidFill>
            <a:prstDash val="solid"/>
          </a:ln>
        </p:spPr>
        <p:txBody>
          <a:bodyPr/>
          <a:lstStyle/>
          <a:p>
            <a:endParaRPr lang="en-US"/>
          </a:p>
        </p:txBody>
      </p:sp>
      <p:sp>
        <p:nvSpPr>
          <p:cNvPr id="43" name="Text 41"/>
          <p:cNvSpPr/>
          <p:nvPr/>
        </p:nvSpPr>
        <p:spPr>
          <a:xfrm>
            <a:off x="4782312" y="4398264"/>
            <a:ext cx="4041648" cy="329184"/>
          </a:xfrm>
          <a:prstGeom prst="rect">
            <a:avLst/>
          </a:prstGeom>
          <a:noFill/>
          <a:ln/>
        </p:spPr>
        <p:txBody>
          <a:bodyPr wrap="square" lIns="25400" tIns="25400" rIns="25400" bIns="25400" rtlCol="0" anchor="ctr"/>
          <a:lstStyle/>
          <a:p>
            <a:pPr marL="0" indent="0">
              <a:buNone/>
            </a:pPr>
            <a:r>
              <a:rPr lang="en-US" sz="950" dirty="0">
                <a:solidFill>
                  <a:srgbClr val="343A40"/>
                </a:solidFill>
                <a:latin typeface="Calibri" pitchFamily="34" charset="0"/>
                <a:ea typeface="Calibri" pitchFamily="34" charset="-122"/>
                <a:cs typeface="Calibri" pitchFamily="34" charset="-120"/>
              </a:rPr>
              <a:t>Managed Entra identity per agent; OAuth OBO passthrough; private VNet</a:t>
            </a:r>
            <a:endParaRPr lang="en-US" sz="950" dirty="0"/>
          </a:p>
        </p:txBody>
      </p:sp>
      <p:sp>
        <p:nvSpPr>
          <p:cNvPr id="44" name="Shape 42"/>
          <p:cNvSpPr/>
          <p:nvPr/>
        </p:nvSpPr>
        <p:spPr>
          <a:xfrm>
            <a:off x="274320" y="4617720"/>
            <a:ext cx="8595360" cy="347472"/>
          </a:xfrm>
          <a:prstGeom prst="roundRect">
            <a:avLst>
              <a:gd name="adj" fmla="val 15789"/>
            </a:avLst>
          </a:prstGeom>
          <a:solidFill>
            <a:srgbClr val="FFF9DB"/>
          </a:solidFill>
          <a:ln w="12700">
            <a:solidFill>
              <a:srgbClr val="E8590C"/>
            </a:solidFill>
            <a:prstDash val="solid"/>
          </a:ln>
        </p:spPr>
        <p:txBody>
          <a:bodyPr/>
          <a:lstStyle/>
          <a:p>
            <a:endParaRPr lang="en-US"/>
          </a:p>
        </p:txBody>
      </p:sp>
      <p:sp>
        <p:nvSpPr>
          <p:cNvPr id="45" name="Text 43"/>
          <p:cNvSpPr/>
          <p:nvPr/>
        </p:nvSpPr>
        <p:spPr>
          <a:xfrm>
            <a:off x="384048" y="4764024"/>
            <a:ext cx="8412480" cy="320040"/>
          </a:xfrm>
          <a:prstGeom prst="rect">
            <a:avLst/>
          </a:prstGeom>
          <a:noFill/>
          <a:ln/>
        </p:spPr>
        <p:txBody>
          <a:bodyPr wrap="square" lIns="25400" tIns="25400" rIns="25400" bIns="25400" rtlCol="0" anchor="ctr"/>
          <a:lstStyle/>
          <a:p>
            <a:pPr marL="0" indent="0">
              <a:buNone/>
            </a:pPr>
            <a:r>
              <a:rPr lang="en-US" sz="900" dirty="0">
                <a:solidFill>
                  <a:srgbClr val="E67700"/>
                </a:solidFill>
                <a:latin typeface="Calibri" pitchFamily="34" charset="0"/>
                <a:ea typeface="Calibri" pitchFamily="34" charset="-122"/>
                <a:cs typeface="Calibri" pitchFamily="34" charset="-120"/>
              </a:rPr>
              <a:t>Choose AKS + Dapr Agents when: multi-cloud/on-prem, existing K8s platform, scale-to-zero budget, or open-source governance required.  Choose Foundry Hosted when: Azure-first, Teams/M365 publishing, fastest time to production, or no platform team to manage infra.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926080"/>
            <a:ext cx="3200400" cy="3200400"/>
          </a:xfrm>
          <a:prstGeom prst="ellipse">
            <a:avLst/>
          </a:prstGeom>
          <a:solidFill>
            <a:srgbClr val="162055"/>
          </a:solidFill>
          <a:ln w="12700">
            <a:solidFill>
              <a:srgbClr val="162055"/>
            </a:solidFill>
            <a:prstDash val="solid"/>
          </a:ln>
        </p:spPr>
        <p:txBody>
          <a:bodyPr/>
          <a:lstStyle/>
          <a:p>
            <a:endParaRPr lang="en-US"/>
          </a:p>
        </p:txBody>
      </p:sp>
      <p:sp>
        <p:nvSpPr>
          <p:cNvPr id="3" name="Shape 1"/>
          <p:cNvSpPr/>
          <p:nvPr/>
        </p:nvSpPr>
        <p:spPr>
          <a:xfrm>
            <a:off x="7772400" y="-731520"/>
            <a:ext cx="2286000" cy="2286000"/>
          </a:xfrm>
          <a:prstGeom prst="ellipse">
            <a:avLst/>
          </a:prstGeom>
          <a:solidFill>
            <a:srgbClr val="1971C2">
              <a:alpha val="35000"/>
            </a:srgbClr>
          </a:solidFill>
          <a:ln w="12700">
            <a:solidFill>
              <a:srgbClr val="1971C2">
                <a:alpha val="35000"/>
              </a:srgbClr>
            </a:solidFill>
            <a:prstDash val="solid"/>
          </a:ln>
        </p:spPr>
        <p:txBody>
          <a:bodyPr/>
          <a:lstStyle/>
          <a:p>
            <a:endParaRPr lang="en-US"/>
          </a:p>
        </p:txBody>
      </p:sp>
      <p:sp>
        <p:nvSpPr>
          <p:cNvPr id="4" name="Text 2"/>
          <p:cNvSpPr/>
          <p:nvPr/>
        </p:nvSpPr>
        <p:spPr>
          <a:xfrm>
            <a:off x="457200" y="274320"/>
            <a:ext cx="82296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From Diagram to Production</a:t>
            </a:r>
            <a:endParaRPr lang="en-US" sz="3600" dirty="0"/>
          </a:p>
        </p:txBody>
      </p:sp>
      <p:sp>
        <p:nvSpPr>
          <p:cNvPr id="5" name="Shape 3"/>
          <p:cNvSpPr/>
          <p:nvPr/>
        </p:nvSpPr>
        <p:spPr>
          <a:xfrm>
            <a:off x="457200" y="1225296"/>
            <a:ext cx="384048" cy="384048"/>
          </a:xfrm>
          <a:prstGeom prst="ellipse">
            <a:avLst/>
          </a:prstGeom>
          <a:solidFill>
            <a:srgbClr val="2F9E44"/>
          </a:solidFill>
          <a:ln w="12700">
            <a:solidFill>
              <a:srgbClr val="2F9E44"/>
            </a:solidFill>
            <a:prstDash val="solid"/>
          </a:ln>
        </p:spPr>
        <p:txBody>
          <a:bodyPr/>
          <a:lstStyle/>
          <a:p>
            <a:endParaRPr lang="en-US"/>
          </a:p>
        </p:txBody>
      </p:sp>
      <p:sp>
        <p:nvSpPr>
          <p:cNvPr id="6" name="Text 4"/>
          <p:cNvSpPr/>
          <p:nvPr/>
        </p:nvSpPr>
        <p:spPr>
          <a:xfrm>
            <a:off x="457200" y="122529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969264" y="1115568"/>
            <a:ext cx="7680960" cy="62179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baseline agentic loop correctly captures the core flow: bidirectional client communication, system prompt, MCP tool registration, loop back to model, and optional agent handoff.</a:t>
            </a:r>
            <a:endParaRPr lang="en-US" sz="1250" dirty="0"/>
          </a:p>
        </p:txBody>
      </p:sp>
      <p:sp>
        <p:nvSpPr>
          <p:cNvPr id="8" name="Shape 6"/>
          <p:cNvSpPr/>
          <p:nvPr/>
        </p:nvSpPr>
        <p:spPr>
          <a:xfrm>
            <a:off x="457200" y="1975104"/>
            <a:ext cx="384048" cy="384048"/>
          </a:xfrm>
          <a:prstGeom prst="ellipse">
            <a:avLst/>
          </a:prstGeom>
          <a:solidFill>
            <a:srgbClr val="1971C2"/>
          </a:solidFill>
          <a:ln w="12700">
            <a:solidFill>
              <a:srgbClr val="1971C2"/>
            </a:solidFill>
            <a:prstDash val="solid"/>
          </a:ln>
        </p:spPr>
        <p:txBody>
          <a:bodyPr/>
          <a:lstStyle/>
          <a:p>
            <a:endParaRPr lang="en-US"/>
          </a:p>
        </p:txBody>
      </p:sp>
      <p:sp>
        <p:nvSpPr>
          <p:cNvPr id="9" name="Text 7"/>
          <p:cNvSpPr/>
          <p:nvPr/>
        </p:nvSpPr>
        <p:spPr>
          <a:xfrm>
            <a:off x="457200" y="197510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969264" y="1865376"/>
            <a:ext cx="7680960" cy="62179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Three additions sharpen it: 4-tier memory, an explicit harness/dispatch layer, and bidirectional memory read/write.</a:t>
            </a:r>
            <a:endParaRPr lang="en-US" sz="1250" dirty="0"/>
          </a:p>
        </p:txBody>
      </p:sp>
      <p:sp>
        <p:nvSpPr>
          <p:cNvPr id="11" name="Shape 9"/>
          <p:cNvSpPr/>
          <p:nvPr/>
        </p:nvSpPr>
        <p:spPr>
          <a:xfrm>
            <a:off x="457200" y="2724912"/>
            <a:ext cx="384048" cy="384048"/>
          </a:xfrm>
          <a:prstGeom prst="ellipse">
            <a:avLst/>
          </a:prstGeom>
          <a:solidFill>
            <a:srgbClr val="7E57C2"/>
          </a:solidFill>
          <a:ln w="12700">
            <a:solidFill>
              <a:srgbClr val="7E57C2"/>
            </a:solidFill>
            <a:prstDash val="solid"/>
          </a:ln>
        </p:spPr>
        <p:txBody>
          <a:bodyPr/>
          <a:lstStyle/>
          <a:p>
            <a:endParaRPr lang="en-US"/>
          </a:p>
        </p:txBody>
      </p:sp>
      <p:sp>
        <p:nvSpPr>
          <p:cNvPr id="12" name="Text 10"/>
          <p:cNvSpPr/>
          <p:nvPr/>
        </p:nvSpPr>
        <p:spPr>
          <a:xfrm>
            <a:off x="457200" y="272491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969264" y="2615184"/>
            <a:ext cx="7680960" cy="62179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Multi-agent adds an orchestrator, A2A routing, and shared long-term memory across specialized sub-agents running in parallel.</a:t>
            </a:r>
            <a:endParaRPr lang="en-US" sz="1250" dirty="0"/>
          </a:p>
        </p:txBody>
      </p:sp>
      <p:sp>
        <p:nvSpPr>
          <p:cNvPr id="14" name="Shape 12"/>
          <p:cNvSpPr/>
          <p:nvPr/>
        </p:nvSpPr>
        <p:spPr>
          <a:xfrm>
            <a:off x="457200" y="3474720"/>
            <a:ext cx="384048" cy="384048"/>
          </a:xfrm>
          <a:prstGeom prst="ellipse">
            <a:avLst/>
          </a:prstGeom>
          <a:solidFill>
            <a:srgbClr val="E8590C"/>
          </a:solidFill>
          <a:ln w="12700">
            <a:solidFill>
              <a:srgbClr val="E8590C"/>
            </a:solidFill>
            <a:prstDash val="solid"/>
          </a:ln>
        </p:spPr>
        <p:txBody>
          <a:bodyPr/>
          <a:lstStyle/>
          <a:p>
            <a:endParaRPr lang="en-US"/>
          </a:p>
        </p:txBody>
      </p:sp>
      <p:sp>
        <p:nvSpPr>
          <p:cNvPr id="15" name="Text 13"/>
          <p:cNvSpPr/>
          <p:nvPr/>
        </p:nvSpPr>
        <p:spPr>
          <a:xfrm>
            <a:off x="457200" y="347472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p:nvPr/>
        </p:nvSpPr>
        <p:spPr>
          <a:xfrm>
            <a:off x="969264" y="3364992"/>
            <a:ext cx="7680960" cy="62179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8 failure surfaces span every hop: network, token overflow, tool errors, memory outages, and runaway loops.</a:t>
            </a:r>
            <a:endParaRPr lang="en-US" sz="1250" dirty="0"/>
          </a:p>
        </p:txBody>
      </p:sp>
      <p:sp>
        <p:nvSpPr>
          <p:cNvPr id="17" name="Shape 15"/>
          <p:cNvSpPr/>
          <p:nvPr/>
        </p:nvSpPr>
        <p:spPr>
          <a:xfrm>
            <a:off x="457200" y="4224528"/>
            <a:ext cx="384048" cy="384048"/>
          </a:xfrm>
          <a:prstGeom prst="ellipse">
            <a:avLst/>
          </a:prstGeom>
          <a:solidFill>
            <a:srgbClr val="D97706"/>
          </a:solidFill>
          <a:ln w="12700">
            <a:solidFill>
              <a:srgbClr val="D97706"/>
            </a:solidFill>
            <a:prstDash val="solid"/>
          </a:ln>
        </p:spPr>
        <p:txBody>
          <a:bodyPr/>
          <a:lstStyle/>
          <a:p>
            <a:endParaRPr lang="en-US"/>
          </a:p>
        </p:txBody>
      </p:sp>
      <p:sp>
        <p:nvSpPr>
          <p:cNvPr id="18" name="Text 16"/>
          <p:cNvSpPr/>
          <p:nvPr/>
        </p:nvSpPr>
        <p:spPr>
          <a:xfrm>
            <a:off x="457200" y="422452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969264" y="4114800"/>
            <a:ext cx="7680960" cy="621792"/>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Foundry Agent Service = managed production answer. Dapr Agents on AKS = self-hosted open-source alternative. Same guarantees, different operating model.</a:t>
            </a:r>
            <a:endParaRPr lang="en-US" sz="1250" dirty="0"/>
          </a:p>
        </p:txBody>
      </p:sp>
      <p:sp>
        <p:nvSpPr>
          <p:cNvPr id="20" name="Text 18"/>
          <p:cNvSpPr/>
          <p:nvPr/>
        </p:nvSpPr>
        <p:spPr>
          <a:xfrm>
            <a:off x="457200" y="4864608"/>
            <a:ext cx="8229600" cy="219456"/>
          </a:xfrm>
          <a:prstGeom prst="rect">
            <a:avLst/>
          </a:prstGeom>
          <a:noFill/>
          <a:ln/>
        </p:spPr>
        <p:txBody>
          <a:bodyPr wrap="square" rtlCol="0" anchor="ctr"/>
          <a:lstStyle/>
          <a:p>
            <a:pPr marL="0" indent="0" algn="ctr">
              <a:buNone/>
            </a:pPr>
            <a:r>
              <a:rPr lang="en-US" sz="1000" i="1" dirty="0">
                <a:solidFill>
                  <a:srgbClr val="8AB4D8"/>
                </a:solidFill>
                <a:latin typeface="Calibri" pitchFamily="34" charset="0"/>
                <a:ea typeface="Calibri" pitchFamily="34" charset="-122"/>
                <a:cs typeface="Calibri" pitchFamily="34" charset="-120"/>
              </a:rPr>
              <a:t>learn.microsoft.com/azure/foundry/agents  |  docs.dapr.io/developing-ai/dapr-agents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TotalTime>
  <Words>1914</Words>
  <Application>Microsoft Office PowerPoint</Application>
  <PresentationFormat>On-screen Show (16:9)</PresentationFormat>
  <Paragraphs>216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Architecture &amp; Foundry Agent Service</dc:title>
  <dc:subject>PptxGenJS Presentation</dc:subject>
  <dc:creator>Brian DeNicola</dc:creator>
  <cp:lastModifiedBy>Brian Denicola</cp:lastModifiedBy>
  <cp:revision>2</cp:revision>
  <dcterms:created xsi:type="dcterms:W3CDTF">2026-06-28T17:17:19Z</dcterms:created>
  <dcterms:modified xsi:type="dcterms:W3CDTF">2026-06-29T14:07:44Z</dcterms:modified>
</cp:coreProperties>
</file>